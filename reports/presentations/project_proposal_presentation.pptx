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15"/>
    <p:sldId id="265" r:id="rId16"/>
    <p:sldId id="266" r:id="rId17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data_source.png"/><Relationship Id="rId3" Type="http://schemas.openxmlformats.org/officeDocument/2006/relationships/image" Target="../media/data_loaded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341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CA3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TOPIC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72640"/>
            <a:ext cx="10883392" cy="1671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000" b="1" i="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 Learning-Based Prediction of Method Renaming Refactorings in Python Projects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97256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A3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439920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Raj Panchal · Johnson Amoah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2800" y="485394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C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Thompson Rivers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Will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Collect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230120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the 183 validated Python renames, plus ordinary methods that were not renamed.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56972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Learn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1600" y="2230120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Pick clues from the code and the change, then train a model.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28676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54076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Compare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800" y="3947160"/>
            <a:ext cx="481380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the model against a simple baseline.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7600" y="328676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54076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Test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1600" y="3947160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it on PyRef Rename Method examples, kept apart from training.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5003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Scope: Python only, Rename Method only. We predict that a rename happens, not the new name.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Datasets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0"/>
            <a:ext cx="5181600" cy="2550160"/>
          </a:xfrm>
          <a:prstGeom prst="roundRect">
            <a:avLst>
              <a:gd name="adj" fmla="val 398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Training: Validated Python Renames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230120"/>
            <a:ext cx="481380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the ICSE 2022 study of Python ML projects. 190 detected cases were checked by hand, and 183 were confirmed as real Rename Method refactorings.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3078480"/>
            <a:ext cx="481380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 with a Python version of RefactoringMiner, not PyRef.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569720"/>
            <a:ext cx="5181600" cy="2550160"/>
          </a:xfrm>
          <a:prstGeom prst="roundRect">
            <a:avLst>
              <a:gd name="adj" fmla="val 3984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Testing: PyRef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1600" y="2204720"/>
            <a:ext cx="481380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CA3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139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51600" y="3042920"/>
            <a:ext cx="4813808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Rename Method examples. Open source on GitHub, and the first dataset of refactorings in Python.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Use the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Training: validated renames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800" y="2230120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183 confirmed Python renames from the ICSE 2022 dataset.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569720"/>
            <a:ext cx="5181600" cy="146304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23720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Testing: PyRef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1600" y="2230120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139 Rename Method examples are used only to test.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286761"/>
            <a:ext cx="5181600" cy="2100000"/>
          </a:xfrm>
          <a:prstGeom prst="roundRect">
            <a:avLst>
              <a:gd name="adj" fmla="val 6944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1066800" y="354076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Not-renamed methods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66800" y="3947161"/>
            <a:ext cx="4813808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training set has none. We will pick ordinary methods from the same projects and check them.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7600" y="3286761"/>
            <a:ext cx="5181600" cy="2100000"/>
          </a:xfrm>
          <a:prstGeom prst="roundRect">
            <a:avLst>
              <a:gd name="adj" fmla="val 6944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354076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out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1600" y="3947161"/>
            <a:ext cx="4813808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Only 183 examples, all from Python ML projects. Check for overlap with PyRef data.</a:t>
            </a:r>
            <a:endParaRPr lang="en-US" sz="1600" dirty="0"/>
          </a:p>
          <a:p>
            <a:pPr algn="l" indent="0" marL="0">
              <a:lnSpc>
                <a:spcPts val="216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 data option: ActRef, 1,914 validated Python refactorings, once overlap with PyRef is removed.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6F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1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35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PyRef: Refactoring Detection in Python Projects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034539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Atwi, Lin, Tsantalis, Kashiwa, Kamei, Ubayashi, Bavota, Lanza · IEEE SCAM 2021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555239"/>
            <a:ext cx="3386614" cy="1685925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809239"/>
            <a:ext cx="296497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800" y="3215639"/>
            <a:ext cx="2964972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tool that finds mainly method-level refactorings in Python commit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2614" y="2555239"/>
            <a:ext cx="3386693" cy="1685925"/>
          </a:xfrm>
          <a:prstGeom prst="roundRect">
            <a:avLst>
              <a:gd name="adj" fmla="val 602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56614" y="2809239"/>
            <a:ext cx="29650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6614" y="3215639"/>
            <a:ext cx="2965054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89.6% precision and 76.1% recall, checked on three real Python projects.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507" y="2555239"/>
            <a:ext cx="3386693" cy="1685925"/>
          </a:xfrm>
          <a:prstGeom prst="roundRect">
            <a:avLst>
              <a:gd name="adj" fmla="val 6026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507" y="2809239"/>
            <a:ext cx="29650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46507" y="3215639"/>
            <a:ext cx="296505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use its dataset to test our model.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6F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PAPER 2 (RELATED WORK)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2700"/>
            <a:ext cx="10883392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Detecting Refactoring Commits in Machine Learning Python Projects: A Machine Learning-Based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212339"/>
            <a:ext cx="1088339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A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Authors:</a:t>
            </a:r>
            <a:r>
              <a:rPr lang="en-US" sz="1400" dirty="0">
                <a:solidFill>
                  <a:srgbClr val="3D4A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Shayan Noei, Heng Li, Ying Zou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A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Published:</a:t>
            </a:r>
            <a:r>
              <a:rPr lang="en-US" sz="1400" dirty="0">
                <a:solidFill>
                  <a:srgbClr val="3D4A6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ACM Transactions on Software Engineering and Methodology, 2024 (DOI 10.1145/3705309). Preprint on arXiv: 2404.06572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3162300"/>
            <a:ext cx="3386614" cy="1874520"/>
          </a:xfrm>
          <a:prstGeom prst="roundRect">
            <a:avLst>
              <a:gd name="adj" fmla="val 542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416300"/>
            <a:ext cx="296497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 does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66800" y="3822700"/>
            <a:ext cx="296497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MLRefScanner is an ML tool that spots commits containing refactorings. Its best classifier is LightGBM.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3162300"/>
            <a:ext cx="3386693" cy="1874520"/>
          </a:xfrm>
          <a:prstGeom prst="roundRect">
            <a:avLst>
              <a:gd name="adj" fmla="val 542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656614" y="3416300"/>
            <a:ext cx="29650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56614" y="3822700"/>
            <a:ext cx="296505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94% precision, 82% recall and 89% AUC, tested on 199 open-source ML projects.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07" y="3162300"/>
            <a:ext cx="3386693" cy="1874520"/>
          </a:xfrm>
          <a:prstGeom prst="roundRect">
            <a:avLst>
              <a:gd name="adj" fmla="val 5420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8246507" y="3416300"/>
            <a:ext cx="296505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 to us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46507" y="3822700"/>
            <a:ext cx="2965054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Shows ML can work on Python refactoring. Ours is narrower: method renames only.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 and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1"/>
            <a:ext cx="5181600" cy="22352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82372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8108" y="2331721"/>
            <a:ext cx="475564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Shows if ML can spot method renames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Shows how it performs on real PyRef examples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starting point for later Python refactoring studies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7600" y="1569721"/>
            <a:ext cx="5181600" cy="2235200"/>
          </a:xfrm>
          <a:prstGeom prst="roundRect">
            <a:avLst>
              <a:gd name="adj" fmla="val 4545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451600" y="1823721"/>
            <a:ext cx="48138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Possible use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02908" y="2331721"/>
            <a:ext cx="4755642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Warn reviewers about methods likely to change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 maintainers plan clean-up work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Extend to other refactoring types later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05382"/>
            <a:ext cx="10883392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i="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12800" y="330200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CA3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3947161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C9CE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Group 4 · Raj Panchal · Johnson Amoah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Progress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Progress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812800" y="1569720"/>
            <a:ext cx="3386666" cy="350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</p:spPr>
      </p:sp>
      <p:sp>
        <p:nvSpPr>
          <p:cNvPr id="4" name="Card heading"/>
          <p:cNvSpPr txBox="1"/>
          <p:nvPr/>
        </p:nvSpPr>
        <p:spPr>
          <a:xfrm>
            <a:off x="1066800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Done</a:t>
            </a:r>
            <a:endParaRPr lang="en-US" sz="2000" dirty="0"/>
          </a:p>
        </p:txBody>
      </p:sp>
      <p:sp>
        <p:nvSpPr>
          <p:cNvPr id="5" name="Card list"/>
          <p:cNvSpPr txBox="1"/>
          <p:nvPr/>
        </p:nvSpPr>
        <p:spPr>
          <a:xfrm>
            <a:off x="1066800" y="2230120"/>
            <a:ext cx="2878666" cy="25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Scope fixed: Python, Rename Method only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key papers reviewed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 data found and loaded: 190 detected renames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loading script working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402666" y="1569720"/>
            <a:ext cx="3386666" cy="350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</p:spPr>
      </p:sp>
      <p:sp>
        <p:nvSpPr>
          <p:cNvPr id="7" name="Card heading"/>
          <p:cNvSpPr txBox="1"/>
          <p:nvPr/>
        </p:nvSpPr>
        <p:spPr>
          <a:xfrm>
            <a:off x="4656666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progress</a:t>
            </a:r>
            <a:endParaRPr lang="en-US" sz="2000" dirty="0"/>
          </a:p>
        </p:txBody>
      </p:sp>
      <p:sp>
        <p:nvSpPr>
          <p:cNvPr id="8" name="Card list"/>
          <p:cNvSpPr txBox="1"/>
          <p:nvPr/>
        </p:nvSpPr>
        <p:spPr>
          <a:xfrm>
            <a:off x="4656666" y="2230120"/>
            <a:ext cx="2878666" cy="25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which 183 of the 190 were confirmed by hand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Download the PyRef test file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Get the method code before and after each rename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7992532" y="1569720"/>
            <a:ext cx="3386666" cy="3500000"/>
          </a:xfrm>
          <a:prstGeom prst="roundRect">
            <a:avLst>
              <a:gd name="adj" fmla="val 6944"/>
            </a:avLst>
          </a:prstGeom>
          <a:solidFill>
            <a:srgbClr val="14213D"/>
          </a:solidFill>
        </p:spPr>
      </p:sp>
      <p:sp>
        <p:nvSpPr>
          <p:cNvPr id="10" name="Card heading"/>
          <p:cNvSpPr txBox="1"/>
          <p:nvPr/>
        </p:nvSpPr>
        <p:spPr>
          <a:xfrm>
            <a:off x="8246532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Card list"/>
          <p:cNvSpPr txBox="1"/>
          <p:nvPr/>
        </p:nvSpPr>
        <p:spPr>
          <a:xfrm>
            <a:off x="8246532" y="2230120"/>
            <a:ext cx="2878666" cy="25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160"/>
              </a:lnSpc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the not-renamed methods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Remove overlap with PyRef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 baseline, Random Forest and LightGBM</a:t>
            </a:r>
            <a:endParaRPr lang="en-US" sz="1600" dirty="0"/>
          </a:p>
          <a:p>
            <a:pPr algn="l" marL="177292" indent="-177292">
              <a:lnSpc>
                <a:spcPts val="2160"/>
              </a:lnSpc>
              <a:spcBef>
                <a:spcPts val="600"/>
              </a:spcBef>
              <a:buSzPct val="100000"/>
              <a:buChar char="•"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on PyRef: precision, recall, F1</a:t>
            </a:r>
            <a:endParaRPr lang="en-US" sz="1600" dirty="0"/>
          </a:p>
        </p:txBody>
      </p:sp>
      <p:sp>
        <p:nvSpPr>
          <p:cNvPr id="12" name="Note"/>
          <p:cNvSpPr txBox="1"/>
          <p:nvPr/>
        </p:nvSpPr>
        <p:spPr>
          <a:xfrm>
            <a:off x="812800" y="5272920"/>
            <a:ext cx="105664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27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study reports 183 of the 190 detected cases as confirmed. We are finding which 7 were rejected.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ining Data Loaded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Training Data Loaded</a:t>
            </a:r>
            <a:endParaRPr lang="en-US" sz="3600" dirty="0"/>
          </a:p>
        </p:txBody>
      </p:sp>
      <p:pic>
        <p:nvPicPr>
          <p:cNvPr id="3" name="Picture 3" descr="GitHub page of Rename_Method.html listing Rename Method refactoring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569720"/>
            <a:ext cx="5974761" cy="3931920"/>
          </a:xfrm>
          <a:prstGeom prst="roundRect">
            <a:avLst>
              <a:gd name="adj" fmla="val 2000"/>
            </a:avLst>
          </a:prstGeom>
        </p:spPr>
      </p:pic>
      <p:pic>
        <p:nvPicPr>
          <p:cNvPr id="4" name="Picture 4" descr="VS Code terminal showing 190 rows loaded with pand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161" y="1569720"/>
            <a:ext cx="4246473" cy="3931920"/>
          </a:xfrm>
          <a:prstGeom prst="roundRect">
            <a:avLst>
              <a:gd name="adj" fmla="val 2000"/>
            </a:avLst>
          </a:prstGeom>
        </p:spPr>
      </p:pic>
      <p:sp>
        <p:nvSpPr>
          <p:cNvPr id="5" name="Caption left"/>
          <p:cNvSpPr txBox="1"/>
          <p:nvPr/>
        </p:nvSpPr>
        <p:spPr>
          <a:xfrm>
            <a:off x="812800" y="5654040"/>
            <a:ext cx="5974761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Source: Rename_Method.html, ICSE 2022 GitHub repository</a:t>
            </a:r>
            <a:endParaRPr lang="en-US" sz="1400" dirty="0"/>
          </a:p>
        </p:txBody>
      </p:sp>
      <p:sp>
        <p:nvSpPr>
          <p:cNvPr id="6" name="Caption right"/>
          <p:cNvSpPr txBox="1"/>
          <p:nvPr/>
        </p:nvSpPr>
        <p:spPr>
          <a:xfrm>
            <a:off x="7016161" y="5654040"/>
            <a:ext cx="4246473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Loaded in Python with pandas: 190 rows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s and Tools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 and Tools</a:t>
            </a:r>
            <a:endParaRPr lang="en-US" sz="3600" dirty="0"/>
          </a:p>
        </p:txBody>
      </p:sp>
      <p:sp>
        <p:nvSpPr>
          <p:cNvPr id="3" name="Card"/>
          <p:cNvSpPr/>
          <p:nvPr/>
        </p:nvSpPr>
        <p:spPr>
          <a:xfrm>
            <a:off x="812800" y="1569720"/>
            <a:ext cx="3386666" cy="210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</p:spPr>
      </p:sp>
      <p:sp>
        <p:nvSpPr>
          <p:cNvPr id="4" name="Card heading"/>
          <p:cNvSpPr txBox="1"/>
          <p:nvPr/>
        </p:nvSpPr>
        <p:spPr>
          <a:xfrm>
            <a:off x="1066800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Baseline</a:t>
            </a:r>
            <a:endParaRPr lang="en-US" sz="2000" dirty="0"/>
          </a:p>
        </p:txBody>
      </p:sp>
      <p:sp>
        <p:nvSpPr>
          <p:cNvPr id="5" name="Card text"/>
          <p:cNvSpPr txBox="1"/>
          <p:nvPr/>
        </p:nvSpPr>
        <p:spPr>
          <a:xfrm>
            <a:off x="1066800" y="2230120"/>
            <a:ext cx="2878666" cy="11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Majority-class guess, then Logistic Regression. The yardstick to beat.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402666" y="1569720"/>
            <a:ext cx="3386666" cy="210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</p:spPr>
      </p:sp>
      <p:sp>
        <p:nvSpPr>
          <p:cNvPr id="7" name="Card heading"/>
          <p:cNvSpPr txBox="1"/>
          <p:nvPr/>
        </p:nvSpPr>
        <p:spPr>
          <a:xfrm>
            <a:off x="4656666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Random Forest</a:t>
            </a:r>
            <a:endParaRPr lang="en-US" sz="2000" dirty="0"/>
          </a:p>
        </p:txBody>
      </p:sp>
      <p:sp>
        <p:nvSpPr>
          <p:cNvPr id="8" name="Card text"/>
          <p:cNvSpPr txBox="1"/>
          <p:nvPr/>
        </p:nvSpPr>
        <p:spPr>
          <a:xfrm>
            <a:off x="4656666" y="2230120"/>
            <a:ext cx="2878666" cy="11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model. Learns from clues in the code and the change.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7992532" y="1569720"/>
            <a:ext cx="3386666" cy="2100000"/>
          </a:xfrm>
          <a:prstGeom prst="roundRect">
            <a:avLst>
              <a:gd name="adj" fmla="val 6944"/>
            </a:avLst>
          </a:prstGeom>
          <a:solidFill>
            <a:srgbClr val="14213D"/>
          </a:solidFill>
        </p:spPr>
      </p:sp>
      <p:sp>
        <p:nvSpPr>
          <p:cNvPr id="10" name="Card heading"/>
          <p:cNvSpPr txBox="1"/>
          <p:nvPr/>
        </p:nvSpPr>
        <p:spPr>
          <a:xfrm>
            <a:off x="8246532" y="1823720"/>
            <a:ext cx="2878666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LightGBM</a:t>
            </a:r>
            <a:endParaRPr lang="en-US" sz="2000" dirty="0"/>
          </a:p>
        </p:txBody>
      </p:sp>
      <p:sp>
        <p:nvSpPr>
          <p:cNvPr id="11" name="Card text"/>
          <p:cNvSpPr txBox="1"/>
          <p:nvPr/>
        </p:nvSpPr>
        <p:spPr>
          <a:xfrm>
            <a:off x="8246532" y="2230120"/>
            <a:ext cx="2878666" cy="11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 comparison. Best classifier in the related MLRefScanner paper.</a:t>
            </a:r>
            <a:endParaRPr lang="en-US" sz="1600" dirty="0"/>
          </a:p>
        </p:txBody>
      </p:sp>
      <p:sp>
        <p:nvSpPr>
          <p:cNvPr id="12" name="Card"/>
          <p:cNvSpPr/>
          <p:nvPr/>
        </p:nvSpPr>
        <p:spPr>
          <a:xfrm>
            <a:off x="812800" y="3872920"/>
            <a:ext cx="5181600" cy="1700000"/>
          </a:xfrm>
          <a:prstGeom prst="roundRect">
            <a:avLst>
              <a:gd name="adj" fmla="val 6944"/>
            </a:avLst>
          </a:prstGeom>
          <a:solidFill>
            <a:srgbClr val="FFFFFF"/>
          </a:solidFill>
        </p:spPr>
      </p:sp>
      <p:sp>
        <p:nvSpPr>
          <p:cNvPr id="13" name="Card heading"/>
          <p:cNvSpPr txBox="1"/>
          <p:nvPr/>
        </p:nvSpPr>
        <p:spPr>
          <a:xfrm>
            <a:off x="1066800" y="4126920"/>
            <a:ext cx="46736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</a:t>
            </a:r>
            <a:endParaRPr lang="en-US" sz="2000" dirty="0"/>
          </a:p>
        </p:txBody>
      </p:sp>
      <p:sp>
        <p:nvSpPr>
          <p:cNvPr id="14" name="Card text"/>
          <p:cNvSpPr txBox="1"/>
          <p:nvPr/>
        </p:nvSpPr>
        <p:spPr>
          <a:xfrm>
            <a:off x="1066800" y="4533320"/>
            <a:ext cx="4673600" cy="7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Python, Git, pandas, scikit-learn, LightGBM, matplotlib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6197600" y="3872920"/>
            <a:ext cx="5181600" cy="1700000"/>
          </a:xfrm>
          <a:prstGeom prst="roundRect">
            <a:avLst>
              <a:gd name="adj" fmla="val 6944"/>
            </a:avLst>
          </a:prstGeom>
          <a:solidFill>
            <a:srgbClr val="14213D"/>
          </a:solidFill>
        </p:spPr>
      </p:sp>
      <p:sp>
        <p:nvSpPr>
          <p:cNvPr id="16" name="Card heading"/>
          <p:cNvSpPr txBox="1"/>
          <p:nvPr/>
        </p:nvSpPr>
        <p:spPr>
          <a:xfrm>
            <a:off x="6451600" y="4126920"/>
            <a:ext cx="4673600" cy="330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judge</a:t>
            </a:r>
            <a:endParaRPr lang="en-US" sz="2000" dirty="0"/>
          </a:p>
        </p:txBody>
      </p:sp>
      <p:sp>
        <p:nvSpPr>
          <p:cNvPr id="17" name="Card text"/>
          <p:cNvSpPr txBox="1"/>
          <p:nvPr/>
        </p:nvSpPr>
        <p:spPr>
          <a:xfrm>
            <a:off x="6451600" y="4533320"/>
            <a:ext cx="4673600" cy="785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3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Precision, recall and F1 on the PyRef test examples.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hod Renaming Prediction: Plan, Data, Papers and Benefits">
  <a:themeElements>
    <a:clrScheme name="Method Renaming Prediction: Plan, Data, Papers and Benefits">
      <a:dk1>
        <a:srgbClr val="14213D"/>
      </a:dk1>
      <a:lt1>
        <a:srgbClr val="F5F3EE"/>
      </a:lt1>
      <a:dk2>
        <a:srgbClr val="4C5669"/>
      </a:dk2>
      <a:lt2>
        <a:srgbClr val="DFDEDC"/>
      </a:lt2>
      <a:accent1>
        <a:srgbClr val="FCA311"/>
      </a:accent1>
      <a:accent2>
        <a:srgbClr val="C46F00"/>
      </a:accent2>
      <a:accent3>
        <a:srgbClr val="C9CED8"/>
      </a:accent3>
      <a:accent4>
        <a:srgbClr val="4A5568"/>
      </a:accent4>
      <a:accent5>
        <a:srgbClr val="3D4A63"/>
      </a:accent5>
      <a:accent6>
        <a:srgbClr val="9AA0A6"/>
      </a:accent6>
      <a:hlink>
        <a:srgbClr val="0563C1"/>
      </a:hlink>
      <a:folHlink>
        <a:srgbClr val="954F72"/>
      </a:folHlink>
    </a:clrScheme>
    <a:fontScheme name="Method Renaming Prediction: Plan, Data, Papers and Benefit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Renaming Prediction: Plan, Data, Papers and Benefits</dc:title>
  <dc:subject/>
  <dc:creator/>
  <cp:lastModifiedBy/>
  <cp:revision>1</cp:revision>
  <dcterms:created xsi:type="dcterms:W3CDTF">2026-10-13T16:33:56Z</dcterms:created>
  <dcterms:modified xsi:type="dcterms:W3CDTF">2026-10-13T16:33:56Z</dcterms:modified>
</cp:coreProperties>
</file>