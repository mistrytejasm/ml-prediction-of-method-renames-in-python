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 Hello, we are Group 4. Our project asks whether machine learning can predict when a Python method will be renamed. Today we show what we built, our first results, and a mistake we found and fixed in our own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 We look only at a method’s code before a commit and ask: will it be renamed? Three questions: does ML beat simple guessing, which clues matter most, and does it work on another dataset, PyRef.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 All nine steps from downloading the data to training models are done. Still to do: a detection experiment, the PyRef test, explaining the model, and the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 The whole process in five boxes: take the code, detect renames, review them, turn each method into numbers, train models. Everything the model sees comes from the Before code, so it can’t cheat by seeing the new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 We downloaded ActRef, a 2025 dataset of real Python code changes, and got 1,160 commits. We needed lots of real examples of renamed methods to teach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 Each commit has a Before and an After folder of code. But there was no file saying which methods were renamed. No answer key, so we had to build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 Our script compares Before and After. If a method disappears and a new name appears with almost the same code inside, that is a rename. It found 430. The ActRef paper reports 432, so our detector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 We removed 96 test methods, because they are renamed for different reasons. We split the rest into confident cases, with nearly identical code, and unsure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 We checked the 149 unsure cases one by one with a simple rule: a rename must keep the same job. download_url to download_urls is a yes. user_store to sets_store is a no, two different methods. We kept 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 One commit renamed 48 methods at once, so we allowed at most 5 per commit. Final result: 243 renamed methods. HANDOVER: Now we have 243 renamed methods. Johnson will explain how we added the not-renamed ones and trained the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[JOHNSON] To learn what renamed looks like, the model must also see not renamed. These are methods that kept their name. First we took 1,915 from the same files; later 30,974 from all commits.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[JOHNSON] Each method becomes a list of numbers in four groups: the name, the code, the context around it, and how it compares with its neighbours. We never use the new name or the commit message, because that gives away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[JOHNSON] We trained three simple baselines and three ML models. We test with 5-fold cross-validation, keeping each project on one side so the model can’t memorise a project. Our main score is PR-AUC. We don’t use accuracy: always saying no is already 99%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[JOHNSON] Grey bars are simple guessers, around 0.11. Our best model, Random Forest, reached 0.29, about 2.5 times better. It looked like a success, but the top clue was file size, which seemed strange. So we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[JOHNSON] Most important slide. We removed the file-size clues and the score fell to 0.14, almost random. We only took not-renamed methods from files that had a rename. In a tiny file one rename is a big share, so the model learned small file means rename. That came from how we built the data, not from real developer behaviour. Analogy: a student who passes only because every answer on the test was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[JOHNSON] We fixed it by taking not-renamed methods from all commits: 31,217 methods, only 0.8% renamed, which is realistic. Random guessing now scores 0.008. Our best models reach about 0.02, about twice as good. A real signal, but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[JOHNSON] Three lessons. One: ML beats guessing, but only a little. Two: obvious bad-name clues barely help; file and class context help most. Three: how you build the data can fake a good result, and checking caught it. Developers rename for reasons the code doesn’t show, like an API redesign or a team naming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[JOHNSON] Next week we add detection: look at the code before and after, and decide whether a change was a rename. Then we test on PyRef, explain which clues matter with SHAP, and write the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[JOHNSON]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51661"/>
            <a:ext cx="10566400" cy="419353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51661"/>
            <a:ext cx="10566400" cy="419353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F0A36B"/>
                </a:solidFill>
                <a:latin typeface="IBM Plex Sans" pitchFamily="34" charset="0"/>
                <a:ea typeface="IBM Plex Sans" pitchFamily="34" charset="-122"/>
                <a:cs typeface="IBM Plex Sans" pitchFamily="34" charset="-120"/>
              </a:rPr>
              <a:t>PROGRESS REPORT · GROUP 4</a:t>
            </a:r>
            <a:endParaRPr lang="en-US" sz="1500" dirty="0"/>
          </a:p>
        </p:txBody>
      </p:sp>
      <p:sp>
        <p:nvSpPr>
          <p:cNvPr id="3" name="Text 1"/>
          <p:cNvSpPr/>
          <p:nvPr>
            <p:ph type="title"/>
          </p:nvPr>
        </p:nvSpPr>
        <p:spPr>
          <a:xfrm>
            <a:off x="812800" y="2181146"/>
            <a:ext cx="9810750" cy="2000409"/>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6F4EE"/>
                </a:solidFill>
                <a:latin typeface="Source Serif 4" pitchFamily="18" charset="0"/>
                <a:ea typeface="Source Serif 4" pitchFamily="18" charset="-122"/>
                <a:cs typeface="Source Serif 4" pitchFamily="18" charset="-120"/>
              </a:rPr>
              <a:t>Machine Learning-Based Prediction of Method Renaming Refactorings in Python</a:t>
            </a:r>
            <a:endParaRPr lang="en-US" sz="4800" dirty="0"/>
          </a:p>
        </p:txBody>
      </p:sp>
      <p:sp>
        <p:nvSpPr>
          <p:cNvPr id="4" name="Text 2"/>
          <p:cNvSpPr/>
          <p:nvPr/>
        </p:nvSpPr>
        <p:spPr>
          <a:xfrm>
            <a:off x="812800" y="4410154"/>
            <a:ext cx="91567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1DE"/>
                </a:solidFill>
                <a:latin typeface="IBM Plex Sans" pitchFamily="34" charset="0"/>
                <a:ea typeface="IBM Plex Sans" pitchFamily="34" charset="-122"/>
                <a:cs typeface="IBM Plex Sans" pitchFamily="34" charset="-120"/>
              </a:rPr>
              <a:t>Dataset built, first models trained, and an honest look at what the results really mean</a:t>
            </a:r>
            <a:endParaRPr lang="en-US" sz="1500" dirty="0"/>
          </a:p>
        </p:txBody>
      </p:sp>
      <p:sp>
        <p:nvSpPr>
          <p:cNvPr id="5" name="Text 3"/>
          <p:cNvSpPr/>
          <p:nvPr/>
        </p:nvSpPr>
        <p:spPr>
          <a:xfrm>
            <a:off x="812800" y="5778500"/>
            <a:ext cx="30303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Raj Panchal · Johnson Amoah</a:t>
            </a:r>
            <a:endParaRPr lang="en-US" sz="1500" dirty="0"/>
          </a:p>
        </p:txBody>
      </p:sp>
      <p:sp>
        <p:nvSpPr>
          <p:cNvPr id="6" name="Text 4"/>
          <p:cNvSpPr/>
          <p:nvPr/>
        </p:nvSpPr>
        <p:spPr>
          <a:xfrm>
            <a:off x="7804182" y="5831840"/>
            <a:ext cx="3575018"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1DE"/>
                </a:solidFill>
                <a:latin typeface="IBM Plex Sans" pitchFamily="34" charset="0"/>
                <a:ea typeface="IBM Plex Sans" pitchFamily="34" charset="-122"/>
                <a:cs typeface="IBM Plex Sans" pitchFamily="34" charset="-120"/>
              </a:rPr>
              <a:t>Thompson Rivers University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RECAP</a:t>
            </a:r>
            <a:endParaRPr lang="en-US" sz="1200" dirty="0"/>
          </a:p>
        </p:txBody>
      </p:sp>
      <p:sp>
        <p:nvSpPr>
          <p:cNvPr id="3" name="Text 1"/>
          <p:cNvSpPr/>
          <p:nvPr>
            <p:ph type="title"/>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The question we set out to answer</a:t>
            </a:r>
            <a:endParaRPr lang="en-US" sz="3200" dirty="0"/>
          </a:p>
        </p:txBody>
      </p:sp>
      <p:sp>
        <p:nvSpPr>
          <p:cNvPr id="4" name="Text 2"/>
          <p:cNvSpPr/>
          <p:nvPr/>
        </p:nvSpPr>
        <p:spPr>
          <a:xfrm>
            <a:off x="812800" y="1930400"/>
            <a:ext cx="98107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213D"/>
                </a:solidFill>
                <a:latin typeface="Source Serif 4" pitchFamily="18" charset="0"/>
                <a:ea typeface="Source Serif 4" pitchFamily="18" charset="-122"/>
                <a:cs typeface="Source Serif 4" pitchFamily="18" charset="-120"/>
              </a:rPr>
              <a:t>Looking only at a Python method’s code </a:t>
            </a:r>
            <a:r>
              <a:rPr lang="en-US" sz="2000" i="1" dirty="0">
                <a:solidFill>
                  <a:srgbClr val="14213D"/>
                </a:solidFill>
                <a:latin typeface="Source Serif 4" pitchFamily="18" charset="0"/>
                <a:ea typeface="Source Serif 4" pitchFamily="18" charset="-122"/>
                <a:cs typeface="Source Serif 4" pitchFamily="18" charset="-120"/>
              </a:rPr>
              <a:t>before</a:t>
            </a:r>
            <a:r>
              <a:rPr lang="en-US" sz="2000" dirty="0">
                <a:solidFill>
                  <a:srgbClr val="14213D"/>
                </a:solidFill>
                <a:latin typeface="Source Serif 4" pitchFamily="18" charset="0"/>
                <a:ea typeface="Source Serif 4" pitchFamily="18" charset="-122"/>
                <a:cs typeface="Source Serif 4" pitchFamily="18" charset="-120"/>
              </a:rPr>
              <a:t> a commit, can a model tell whether the method is about to be renamed?</a:t>
            </a:r>
            <a:endParaRPr lang="en-US" sz="2000" dirty="0"/>
          </a:p>
        </p:txBody>
      </p:sp>
      <p:sp>
        <p:nvSpPr>
          <p:cNvPr id="5" name="Shape 3"/>
          <p:cNvSpPr/>
          <p:nvPr/>
        </p:nvSpPr>
        <p:spPr>
          <a:xfrm>
            <a:off x="815975" y="2949575"/>
            <a:ext cx="3380264" cy="1314450"/>
          </a:xfrm>
          <a:prstGeom prst="roundRect">
            <a:avLst>
              <a:gd name="adj" fmla="val 7488"/>
            </a:avLst>
          </a:prstGeom>
          <a:solidFill>
            <a:srgbClr val="FFFDF8"/>
          </a:solidFill>
          <a:ln w="6350">
            <a:solidFill>
              <a:srgbClr val="DDD7C8"/>
            </a:solidFill>
            <a:prstDash val="solid"/>
          </a:ln>
        </p:spPr>
      </p:sp>
      <p:sp>
        <p:nvSpPr>
          <p:cNvPr id="6" name="Text 4"/>
          <p:cNvSpPr/>
          <p:nvPr/>
        </p:nvSpPr>
        <p:spPr>
          <a:xfrm>
            <a:off x="1071880" y="3205480"/>
            <a:ext cx="295450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5501A"/>
                </a:solidFill>
                <a:latin typeface="IBM Plex Sans" pitchFamily="34" charset="0"/>
                <a:ea typeface="IBM Plex Sans" pitchFamily="34" charset="-122"/>
                <a:cs typeface="IBM Plex Sans" pitchFamily="34" charset="-120"/>
              </a:rPr>
              <a:t>RQ1</a:t>
            </a:r>
            <a:endParaRPr lang="en-US" sz="1500" dirty="0"/>
          </a:p>
        </p:txBody>
      </p:sp>
      <p:sp>
        <p:nvSpPr>
          <p:cNvPr id="7" name="Text 5"/>
          <p:cNvSpPr/>
          <p:nvPr/>
        </p:nvSpPr>
        <p:spPr>
          <a:xfrm>
            <a:off x="1071880" y="3510280"/>
            <a:ext cx="2954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Does ML beat simple baselines at predicting renames?</a:t>
            </a:r>
            <a:endParaRPr lang="en-US" sz="1400" dirty="0"/>
          </a:p>
        </p:txBody>
      </p:sp>
      <p:sp>
        <p:nvSpPr>
          <p:cNvPr id="8" name="Shape 6"/>
          <p:cNvSpPr/>
          <p:nvPr/>
        </p:nvSpPr>
        <p:spPr>
          <a:xfrm>
            <a:off x="4405789" y="2949575"/>
            <a:ext cx="3380343" cy="1314450"/>
          </a:xfrm>
          <a:prstGeom prst="roundRect">
            <a:avLst>
              <a:gd name="adj" fmla="val 7488"/>
            </a:avLst>
          </a:prstGeom>
          <a:solidFill>
            <a:srgbClr val="FFFDF8"/>
          </a:solidFill>
          <a:ln w="6350">
            <a:solidFill>
              <a:srgbClr val="DDD7C8"/>
            </a:solidFill>
            <a:prstDash val="solid"/>
          </a:ln>
        </p:spPr>
      </p:sp>
      <p:sp>
        <p:nvSpPr>
          <p:cNvPr id="9" name="Text 7"/>
          <p:cNvSpPr/>
          <p:nvPr/>
        </p:nvSpPr>
        <p:spPr>
          <a:xfrm>
            <a:off x="4661694" y="3205480"/>
            <a:ext cx="29545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5501A"/>
                </a:solidFill>
                <a:latin typeface="IBM Plex Sans" pitchFamily="34" charset="0"/>
                <a:ea typeface="IBM Plex Sans" pitchFamily="34" charset="-122"/>
                <a:cs typeface="IBM Plex Sans" pitchFamily="34" charset="-120"/>
              </a:rPr>
              <a:t>RQ2</a:t>
            </a:r>
            <a:endParaRPr lang="en-US" sz="1500" dirty="0"/>
          </a:p>
        </p:txBody>
      </p:sp>
      <p:sp>
        <p:nvSpPr>
          <p:cNvPr id="10" name="Text 8"/>
          <p:cNvSpPr/>
          <p:nvPr/>
        </p:nvSpPr>
        <p:spPr>
          <a:xfrm>
            <a:off x="4661694" y="351028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Which clues matter most: the name, the code, or the context?</a:t>
            </a:r>
            <a:endParaRPr lang="en-US" sz="1400" dirty="0"/>
          </a:p>
        </p:txBody>
      </p:sp>
      <p:sp>
        <p:nvSpPr>
          <p:cNvPr id="11" name="Shape 9"/>
          <p:cNvSpPr/>
          <p:nvPr/>
        </p:nvSpPr>
        <p:spPr>
          <a:xfrm>
            <a:off x="7995682" y="2949575"/>
            <a:ext cx="3380343" cy="1314450"/>
          </a:xfrm>
          <a:prstGeom prst="roundRect">
            <a:avLst>
              <a:gd name="adj" fmla="val 7488"/>
            </a:avLst>
          </a:prstGeom>
          <a:solidFill>
            <a:srgbClr val="FFFDF8"/>
          </a:solidFill>
          <a:ln w="6350">
            <a:solidFill>
              <a:srgbClr val="DDD7C8"/>
            </a:solidFill>
            <a:prstDash val="solid"/>
          </a:ln>
        </p:spPr>
      </p:sp>
      <p:sp>
        <p:nvSpPr>
          <p:cNvPr id="12" name="Text 10"/>
          <p:cNvSpPr/>
          <p:nvPr/>
        </p:nvSpPr>
        <p:spPr>
          <a:xfrm>
            <a:off x="8251587" y="3205480"/>
            <a:ext cx="29545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5501A"/>
                </a:solidFill>
                <a:latin typeface="IBM Plex Sans" pitchFamily="34" charset="0"/>
                <a:ea typeface="IBM Plex Sans" pitchFamily="34" charset="-122"/>
                <a:cs typeface="IBM Plex Sans" pitchFamily="34" charset="-120"/>
              </a:rPr>
              <a:t>RQ3</a:t>
            </a:r>
            <a:endParaRPr lang="en-US" sz="1500" dirty="0"/>
          </a:p>
        </p:txBody>
      </p:sp>
      <p:sp>
        <p:nvSpPr>
          <p:cNvPr id="13" name="Text 11"/>
          <p:cNvSpPr/>
          <p:nvPr/>
        </p:nvSpPr>
        <p:spPr>
          <a:xfrm>
            <a:off x="8251587" y="351028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Does a model trained on one dataset work on another (PyRef)?</a:t>
            </a:r>
            <a:endParaRPr lang="en-US" sz="1400" dirty="0"/>
          </a:p>
        </p:txBody>
      </p:sp>
      <p:sp>
        <p:nvSpPr>
          <p:cNvPr id="14" name="Text 12"/>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Scope: Python only · Rename Method only · we predict </a:t>
            </a:r>
            <a:r>
              <a:rPr lang="en-US" sz="1200" i="1" dirty="0">
                <a:solidFill>
                  <a:srgbClr val="6B7280"/>
                </a:solidFill>
                <a:latin typeface="IBM Plex Sans" pitchFamily="34" charset="0"/>
                <a:ea typeface="IBM Plex Sans" pitchFamily="34" charset="-122"/>
                <a:cs typeface="IBM Plex Sans" pitchFamily="34" charset="-120"/>
              </a:rPr>
              <a:t>that</a:t>
            </a:r>
            <a:r>
              <a:rPr lang="en-US" sz="1200" dirty="0">
                <a:solidFill>
                  <a:srgbClr val="6B7280"/>
                </a:solidFill>
                <a:latin typeface="IBM Plex Sans" pitchFamily="34" charset="0"/>
                <a:ea typeface="IBM Plex Sans" pitchFamily="34" charset="-122"/>
                <a:cs typeface="IBM Plex Sans" pitchFamily="34" charset="-120"/>
              </a:rPr>
              <a:t> a rename happens, not the new name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09312"/>
          </a:xfrm>
          <a:prstGeom prst="rect">
            <a:avLst/>
          </a:prstGeom>
          <a:noFill/>
          <a:ln/>
        </p:spPr>
        <p:txBody>
          <a:bodyPr wrap="square" lIns="0" tIns="0" rIns="0" bIns="0" rtlCol="0" anchor="t">
            <a:normAutofit/>
          </a:bodyPr>
          <a:lstStyle/>
          <a:p>
            <a:pPr algn="l" indent="0" marL="0">
              <a:lnSpc>
                <a:spcPts val="1470"/>
              </a:lnSpc>
              <a:buNone/>
            </a:pPr>
            <a:r>
              <a:rPr lang="en-US" sz="1050" b="1" spc="100" kern="0" dirty="0">
                <a:solidFill>
                  <a:srgbClr val="B5501A"/>
                </a:solidFill>
                <a:latin typeface="IBM Plex Sans" pitchFamily="34" charset="0"/>
                <a:ea typeface="IBM Plex Sans" pitchFamily="34" charset="-122"/>
                <a:cs typeface="IBM Plex Sans" pitchFamily="34" charset="-120"/>
              </a:rPr>
              <a:t>PROGRESS</a:t>
            </a:r>
            <a:endParaRPr lang="en-US" sz="1050" dirty="0"/>
          </a:p>
        </p:txBody>
      </p:sp>
      <p:sp>
        <p:nvSpPr>
          <p:cNvPr id="3" name="Text 1"/>
          <p:cNvSpPr/>
          <p:nvPr>
            <p:ph type="title"/>
          </p:nvPr>
        </p:nvSpPr>
        <p:spPr>
          <a:xfrm>
            <a:off x="812800" y="1098313"/>
            <a:ext cx="10883392" cy="410686"/>
          </a:xfrm>
          <a:prstGeom prst="rect">
            <a:avLst/>
          </a:prstGeom>
          <a:noFill/>
          <a:ln/>
        </p:spPr>
        <p:txBody>
          <a:bodyPr wrap="square" lIns="0" tIns="0" rIns="0" bIns="0" rtlCol="0" anchor="t">
            <a:normAutofit/>
          </a:bodyPr>
          <a:lstStyle/>
          <a:p>
            <a:pPr algn="l" indent="0" marL="0">
              <a:lnSpc>
                <a:spcPts val="3069"/>
              </a:lnSpc>
              <a:buNone/>
            </a:pPr>
            <a:r>
              <a:rPr lang="en-US" sz="2790" b="1" i="0" dirty="0">
                <a:solidFill>
                  <a:srgbClr val="14213D"/>
                </a:solidFill>
                <a:latin typeface="Source Serif 4" pitchFamily="18" charset="0"/>
                <a:ea typeface="Source Serif 4" pitchFamily="18" charset="-122"/>
                <a:cs typeface="Source Serif 4" pitchFamily="18" charset="-120"/>
              </a:rPr>
              <a:t>Data to trained models: complete</a:t>
            </a:r>
            <a:endParaRPr lang="en-US" sz="2790" dirty="0"/>
          </a:p>
        </p:txBody>
      </p:sp>
      <p:pic>
        <p:nvPicPr>
          <p:cNvPr id="4" name="Image 0" descr="Check">    </p:cNvPr>
          <p:cNvPicPr>
            <a:picLocks noChangeAspect="1"/>
          </p:cNvPicPr>
          <p:nvPr/>
        </p:nvPicPr>
        <p:blipFill>
          <a:blip r:embed="rId1"/>
          <a:srcRect l="0" r="0" t="0" b="0"/>
          <a:stretch/>
        </p:blipFill>
        <p:spPr>
          <a:xfrm>
            <a:off x="4207907" y="1788398"/>
            <a:ext cx="177800" cy="177800"/>
          </a:xfrm>
          <a:prstGeom prst="rect">
            <a:avLst/>
          </a:prstGeom>
        </p:spPr>
      </p:pic>
      <p:sp>
        <p:nvSpPr>
          <p:cNvPr id="5" name="Text 2"/>
          <p:cNvSpPr/>
          <p:nvPr/>
        </p:nvSpPr>
        <p:spPr>
          <a:xfrm>
            <a:off x="812800" y="2055098"/>
            <a:ext cx="3235340" cy="1995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1 · Download ActRef</a:t>
            </a:r>
            <a:endParaRPr lang="en-US" sz="1600" dirty="0"/>
          </a:p>
        </p:txBody>
      </p:sp>
      <p:pic>
        <p:nvPicPr>
          <p:cNvPr id="6" name="Image 1" descr="Check">    </p:cNvPr>
          <p:cNvPicPr>
            <a:picLocks noChangeAspect="1"/>
          </p:cNvPicPr>
          <p:nvPr/>
        </p:nvPicPr>
        <p:blipFill>
          <a:blip r:embed="rId2"/>
          <a:srcRect l="0" r="0" t="0" b="0"/>
          <a:stretch/>
        </p:blipFill>
        <p:spPr>
          <a:xfrm>
            <a:off x="812800" y="2318147"/>
            <a:ext cx="177800" cy="177800"/>
          </a:xfrm>
          <a:prstGeom prst="rect">
            <a:avLst/>
          </a:prstGeom>
        </p:spPr>
      </p:pic>
      <p:sp>
        <p:nvSpPr>
          <p:cNvPr id="7" name="Text 3"/>
          <p:cNvSpPr/>
          <p:nvPr/>
        </p:nvSpPr>
        <p:spPr>
          <a:xfrm>
            <a:off x="4207907" y="2318147"/>
            <a:ext cx="323542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6 · Final labels (243)</a:t>
            </a:r>
            <a:endParaRPr lang="en-US" sz="1600" dirty="0"/>
          </a:p>
        </p:txBody>
      </p:sp>
      <p:pic>
        <p:nvPicPr>
          <p:cNvPr id="8" name="Image 2" descr="Check">    </p:cNvPr>
          <p:cNvPicPr>
            <a:picLocks noChangeAspect="1"/>
          </p:cNvPicPr>
          <p:nvPr/>
        </p:nvPicPr>
        <p:blipFill>
          <a:blip r:embed="rId3"/>
          <a:srcRect l="0" r="0" t="0" b="0"/>
          <a:stretch/>
        </p:blipFill>
        <p:spPr>
          <a:xfrm>
            <a:off x="4207907" y="2691527"/>
            <a:ext cx="177800" cy="177800"/>
          </a:xfrm>
          <a:prstGeom prst="rect">
            <a:avLst/>
          </a:prstGeom>
        </p:spPr>
      </p:pic>
      <p:sp>
        <p:nvSpPr>
          <p:cNvPr id="9" name="Text 4"/>
          <p:cNvSpPr/>
          <p:nvPr/>
        </p:nvSpPr>
        <p:spPr>
          <a:xfrm>
            <a:off x="812800" y="2958227"/>
            <a:ext cx="3235340" cy="1995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2 · Explore the data</a:t>
            </a:r>
            <a:endParaRPr lang="en-US" sz="1600" dirty="0"/>
          </a:p>
        </p:txBody>
      </p:sp>
      <p:pic>
        <p:nvPicPr>
          <p:cNvPr id="10" name="Image 3" descr="Check">    </p:cNvPr>
          <p:cNvPicPr>
            <a:picLocks noChangeAspect="1"/>
          </p:cNvPicPr>
          <p:nvPr/>
        </p:nvPicPr>
        <p:blipFill>
          <a:blip r:embed="rId4"/>
          <a:srcRect l="0" r="0" t="0" b="0"/>
          <a:stretch/>
        </p:blipFill>
        <p:spPr>
          <a:xfrm>
            <a:off x="812800" y="3221276"/>
            <a:ext cx="177800" cy="177800"/>
          </a:xfrm>
          <a:prstGeom prst="rect">
            <a:avLst/>
          </a:prstGeom>
        </p:spPr>
      </p:pic>
      <p:sp>
        <p:nvSpPr>
          <p:cNvPr id="11" name="Text 5"/>
          <p:cNvSpPr/>
          <p:nvPr/>
        </p:nvSpPr>
        <p:spPr>
          <a:xfrm>
            <a:off x="4207907" y="3221276"/>
            <a:ext cx="323542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7 · Not-renamed methods</a:t>
            </a:r>
            <a:endParaRPr lang="en-US" sz="1600" dirty="0"/>
          </a:p>
        </p:txBody>
      </p:sp>
      <p:pic>
        <p:nvPicPr>
          <p:cNvPr id="12" name="Image 4" descr="Check">    </p:cNvPr>
          <p:cNvPicPr>
            <a:picLocks noChangeAspect="1"/>
          </p:cNvPicPr>
          <p:nvPr/>
        </p:nvPicPr>
        <p:blipFill>
          <a:blip r:embed="rId5"/>
          <a:srcRect l="0" r="0" t="0" b="0"/>
          <a:stretch/>
        </p:blipFill>
        <p:spPr>
          <a:xfrm>
            <a:off x="4207907" y="3594657"/>
            <a:ext cx="177800" cy="177800"/>
          </a:xfrm>
          <a:prstGeom prst="rect">
            <a:avLst/>
          </a:prstGeom>
        </p:spPr>
      </p:pic>
      <p:sp>
        <p:nvSpPr>
          <p:cNvPr id="13" name="Text 6"/>
          <p:cNvSpPr/>
          <p:nvPr/>
        </p:nvSpPr>
        <p:spPr>
          <a:xfrm>
            <a:off x="812800" y="3861357"/>
            <a:ext cx="3235340" cy="19962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3 · Detect renames (430)</a:t>
            </a:r>
            <a:endParaRPr lang="en-US" sz="1600" dirty="0"/>
          </a:p>
        </p:txBody>
      </p:sp>
      <p:pic>
        <p:nvPicPr>
          <p:cNvPr id="14" name="Image 5" descr="Check">    </p:cNvPr>
          <p:cNvPicPr>
            <a:picLocks noChangeAspect="1"/>
          </p:cNvPicPr>
          <p:nvPr/>
        </p:nvPicPr>
        <p:blipFill>
          <a:blip r:embed="rId6"/>
          <a:srcRect l="0" r="0" t="0" b="0"/>
          <a:stretch/>
        </p:blipFill>
        <p:spPr>
          <a:xfrm>
            <a:off x="812800" y="4124485"/>
            <a:ext cx="177800" cy="177800"/>
          </a:xfrm>
          <a:prstGeom prst="rect">
            <a:avLst/>
          </a:prstGeom>
        </p:spPr>
      </p:pic>
      <p:sp>
        <p:nvSpPr>
          <p:cNvPr id="15" name="Text 7"/>
          <p:cNvSpPr/>
          <p:nvPr/>
        </p:nvSpPr>
        <p:spPr>
          <a:xfrm>
            <a:off x="4207907" y="4124485"/>
            <a:ext cx="323542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8 · Features</a:t>
            </a:r>
            <a:endParaRPr lang="en-US" sz="1600" dirty="0"/>
          </a:p>
        </p:txBody>
      </p:sp>
      <p:pic>
        <p:nvPicPr>
          <p:cNvPr id="16" name="Image 6" descr="Check">    </p:cNvPr>
          <p:cNvPicPr>
            <a:picLocks noChangeAspect="1"/>
          </p:cNvPicPr>
          <p:nvPr/>
        </p:nvPicPr>
        <p:blipFill>
          <a:blip r:embed="rId7"/>
          <a:srcRect l="0" r="0" t="0" b="0"/>
          <a:stretch/>
        </p:blipFill>
        <p:spPr>
          <a:xfrm>
            <a:off x="4207907" y="4497863"/>
            <a:ext cx="177800" cy="177800"/>
          </a:xfrm>
          <a:prstGeom prst="rect">
            <a:avLst/>
          </a:prstGeom>
        </p:spPr>
      </p:pic>
      <p:sp>
        <p:nvSpPr>
          <p:cNvPr id="17" name="Text 8"/>
          <p:cNvSpPr/>
          <p:nvPr/>
        </p:nvSpPr>
        <p:spPr>
          <a:xfrm>
            <a:off x="812800" y="4764563"/>
            <a:ext cx="3235340" cy="19962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4 · Clean the renames</a:t>
            </a:r>
            <a:endParaRPr lang="en-US" sz="1600" dirty="0"/>
          </a:p>
        </p:txBody>
      </p:sp>
      <p:pic>
        <p:nvPicPr>
          <p:cNvPr id="18" name="Image 7" descr="Check">    </p:cNvPr>
          <p:cNvPicPr>
            <a:picLocks noChangeAspect="1"/>
          </p:cNvPicPr>
          <p:nvPr/>
        </p:nvPicPr>
        <p:blipFill>
          <a:blip r:embed="rId8"/>
          <a:srcRect l="0" r="0" t="0" b="0"/>
          <a:stretch/>
        </p:blipFill>
        <p:spPr>
          <a:xfrm>
            <a:off x="812800" y="5027692"/>
            <a:ext cx="177800" cy="177800"/>
          </a:xfrm>
          <a:prstGeom prst="rect">
            <a:avLst/>
          </a:prstGeom>
        </p:spPr>
      </p:pic>
      <p:sp>
        <p:nvSpPr>
          <p:cNvPr id="19" name="Text 9"/>
          <p:cNvSpPr/>
          <p:nvPr/>
        </p:nvSpPr>
        <p:spPr>
          <a:xfrm>
            <a:off x="4207907" y="5027692"/>
            <a:ext cx="323542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9 · Train and check models</a:t>
            </a:r>
            <a:endParaRPr lang="en-US" sz="1600" dirty="0"/>
          </a:p>
        </p:txBody>
      </p:sp>
      <p:pic>
        <p:nvPicPr>
          <p:cNvPr id="20" name="Image 8" descr="Check">    </p:cNvPr>
          <p:cNvPicPr>
            <a:picLocks noChangeAspect="1"/>
          </p:cNvPicPr>
          <p:nvPr/>
        </p:nvPicPr>
        <p:blipFill>
          <a:blip r:embed="rId9"/>
          <a:srcRect l="0" r="0" t="0" b="0"/>
          <a:stretch/>
        </p:blipFill>
        <p:spPr>
          <a:xfrm>
            <a:off x="4207907" y="5401072"/>
            <a:ext cx="177800" cy="177800"/>
          </a:xfrm>
          <a:prstGeom prst="rect">
            <a:avLst/>
          </a:prstGeom>
        </p:spPr>
      </p:pic>
      <p:sp>
        <p:nvSpPr>
          <p:cNvPr id="21" name="Text 10"/>
          <p:cNvSpPr/>
          <p:nvPr/>
        </p:nvSpPr>
        <p:spPr>
          <a:xfrm>
            <a:off x="812800" y="5667772"/>
            <a:ext cx="3235340" cy="19962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5 · Review unsure cases</a:t>
            </a:r>
            <a:endParaRPr lang="en-US" sz="1600" dirty="0"/>
          </a:p>
        </p:txBody>
      </p:sp>
      <p:sp>
        <p:nvSpPr>
          <p:cNvPr id="22" name="Shape 11"/>
          <p:cNvSpPr/>
          <p:nvPr/>
        </p:nvSpPr>
        <p:spPr>
          <a:xfrm>
            <a:off x="7653893" y="1788398"/>
            <a:ext cx="3725307" cy="4053602"/>
          </a:xfrm>
          <a:prstGeom prst="roundRect">
            <a:avLst>
              <a:gd name="adj" fmla="val 2727"/>
            </a:avLst>
          </a:prstGeom>
          <a:solidFill>
            <a:srgbClr val="14213D"/>
          </a:solidFill>
          <a:ln/>
        </p:spPr>
      </p:sp>
      <p:sp>
        <p:nvSpPr>
          <p:cNvPr id="23" name="Text 12"/>
          <p:cNvSpPr/>
          <p:nvPr/>
        </p:nvSpPr>
        <p:spPr>
          <a:xfrm>
            <a:off x="7882493" y="2016998"/>
            <a:ext cx="336615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6B"/>
                </a:solidFill>
                <a:latin typeface="IBM Plex Sans" pitchFamily="34" charset="0"/>
                <a:ea typeface="IBM Plex Sans" pitchFamily="34" charset="-122"/>
                <a:cs typeface="IBM Plex Sans" pitchFamily="34" charset="-120"/>
              </a:rPr>
              <a:t>Still to do</a:t>
            </a:r>
            <a:endParaRPr lang="en-US" sz="1500" dirty="0"/>
          </a:p>
        </p:txBody>
      </p:sp>
      <p:sp>
        <p:nvSpPr>
          <p:cNvPr id="24" name="Text 13"/>
          <p:cNvSpPr/>
          <p:nvPr/>
        </p:nvSpPr>
        <p:spPr>
          <a:xfrm>
            <a:off x="7882493" y="2347198"/>
            <a:ext cx="3366150"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Detection experiment</a:t>
            </a:r>
            <a:endParaRPr lang="en-US" sz="1350" dirty="0"/>
          </a:p>
        </p:txBody>
      </p:sp>
      <p:sp>
        <p:nvSpPr>
          <p:cNvPr id="25" name="Text 14"/>
          <p:cNvSpPr/>
          <p:nvPr/>
        </p:nvSpPr>
        <p:spPr>
          <a:xfrm>
            <a:off x="7882493" y="2688828"/>
            <a:ext cx="3366150"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Test on PyRef (RQ3)</a:t>
            </a:r>
            <a:endParaRPr lang="en-US" sz="1350" dirty="0"/>
          </a:p>
        </p:txBody>
      </p:sp>
      <p:sp>
        <p:nvSpPr>
          <p:cNvPr id="26" name="Text 15"/>
          <p:cNvSpPr/>
          <p:nvPr/>
        </p:nvSpPr>
        <p:spPr>
          <a:xfrm>
            <a:off x="7882493" y="3030458"/>
            <a:ext cx="3366150"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Explain with SHAP</a:t>
            </a:r>
            <a:endParaRPr lang="en-US" sz="1350" dirty="0"/>
          </a:p>
        </p:txBody>
      </p:sp>
      <p:sp>
        <p:nvSpPr>
          <p:cNvPr id="27" name="Text 16"/>
          <p:cNvSpPr/>
          <p:nvPr/>
        </p:nvSpPr>
        <p:spPr>
          <a:xfrm>
            <a:off x="7882493" y="3372089"/>
            <a:ext cx="3366150"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Final report</a:t>
            </a:r>
            <a:endParaRPr lang="en-US" sz="1350" dirty="0"/>
          </a:p>
        </p:txBody>
      </p:sp>
      <p:sp>
        <p:nvSpPr>
          <p:cNvPr id="28" name="Text 17"/>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Done = all 9 steps from download to training · each step on the next slides: what we did, why, result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PIPELINE</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From raw commits to a training table</a:t>
            </a:r>
            <a:endParaRPr lang="en-US" sz="3200" dirty="0"/>
          </a:p>
        </p:txBody>
      </p:sp>
      <p:sp>
        <p:nvSpPr>
          <p:cNvPr id="4" name="Shape 2"/>
          <p:cNvSpPr/>
          <p:nvPr/>
        </p:nvSpPr>
        <p:spPr>
          <a:xfrm>
            <a:off x="815975" y="1984375"/>
            <a:ext cx="1743154" cy="1540510"/>
          </a:xfrm>
          <a:prstGeom prst="roundRect">
            <a:avLst>
              <a:gd name="adj" fmla="val 6389"/>
            </a:avLst>
          </a:prstGeom>
          <a:solidFill>
            <a:srgbClr val="FFFDF8"/>
          </a:solidFill>
          <a:ln w="6350">
            <a:solidFill>
              <a:srgbClr val="DDD7C8"/>
            </a:solidFill>
            <a:prstDash val="solid"/>
          </a:ln>
        </p:spPr>
      </p:sp>
      <p:sp>
        <p:nvSpPr>
          <p:cNvPr id="5" name="Text 3"/>
          <p:cNvSpPr/>
          <p:nvPr/>
        </p:nvSpPr>
        <p:spPr>
          <a:xfrm>
            <a:off x="995680" y="2164080"/>
            <a:ext cx="143454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01A"/>
                </a:solidFill>
                <a:latin typeface="IBM Plex Sans" pitchFamily="34" charset="0"/>
                <a:ea typeface="IBM Plex Sans" pitchFamily="34" charset="-122"/>
                <a:cs typeface="IBM Plex Sans" pitchFamily="34" charset="-120"/>
              </a:rPr>
              <a:t>1 · Code</a:t>
            </a:r>
            <a:endParaRPr lang="en-US" sz="1200" dirty="0"/>
          </a:p>
        </p:txBody>
      </p:sp>
      <p:sp>
        <p:nvSpPr>
          <p:cNvPr id="6" name="Text 4"/>
          <p:cNvSpPr/>
          <p:nvPr/>
        </p:nvSpPr>
        <p:spPr>
          <a:xfrm>
            <a:off x="995680" y="2453641"/>
            <a:ext cx="143454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Before / After files of 1,160 commits</a:t>
            </a:r>
            <a:endParaRPr lang="en-US" sz="1300" dirty="0"/>
          </a:p>
        </p:txBody>
      </p:sp>
      <p:pic>
        <p:nvPicPr>
          <p:cNvPr id="7" name="Image 0" descr="arrow-right">    </p:cNvPr>
          <p:cNvPicPr>
            <a:picLocks noChangeAspect="1"/>
          </p:cNvPicPr>
          <p:nvPr/>
        </p:nvPicPr>
        <p:blipFill>
          <a:blip r:embed="rId1"/>
          <a:srcRect l="0" r="0" t="0" b="0"/>
          <a:stretch/>
        </p:blipFill>
        <p:spPr>
          <a:xfrm>
            <a:off x="2663904" y="2627630"/>
            <a:ext cx="254000" cy="254000"/>
          </a:xfrm>
          <a:prstGeom prst="rect">
            <a:avLst/>
          </a:prstGeom>
        </p:spPr>
      </p:pic>
      <p:sp>
        <p:nvSpPr>
          <p:cNvPr id="8" name="Shape 5"/>
          <p:cNvSpPr/>
          <p:nvPr/>
        </p:nvSpPr>
        <p:spPr>
          <a:xfrm>
            <a:off x="3022679" y="1984375"/>
            <a:ext cx="1743234" cy="1540510"/>
          </a:xfrm>
          <a:prstGeom prst="roundRect">
            <a:avLst>
              <a:gd name="adj" fmla="val 6389"/>
            </a:avLst>
          </a:prstGeom>
          <a:solidFill>
            <a:srgbClr val="FFFDF8"/>
          </a:solidFill>
          <a:ln w="6350">
            <a:solidFill>
              <a:srgbClr val="DDD7C8"/>
            </a:solidFill>
            <a:prstDash val="solid"/>
          </a:ln>
        </p:spPr>
      </p:sp>
      <p:sp>
        <p:nvSpPr>
          <p:cNvPr id="9" name="Text 6"/>
          <p:cNvSpPr/>
          <p:nvPr/>
        </p:nvSpPr>
        <p:spPr>
          <a:xfrm>
            <a:off x="3202384" y="2164080"/>
            <a:ext cx="14346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01A"/>
                </a:solidFill>
                <a:latin typeface="IBM Plex Sans" pitchFamily="34" charset="0"/>
                <a:ea typeface="IBM Plex Sans" pitchFamily="34" charset="-122"/>
                <a:cs typeface="IBM Plex Sans" pitchFamily="34" charset="-120"/>
              </a:rPr>
              <a:t>2 · Detect</a:t>
            </a:r>
            <a:endParaRPr lang="en-US" sz="1200" dirty="0"/>
          </a:p>
        </p:txBody>
      </p:sp>
      <p:sp>
        <p:nvSpPr>
          <p:cNvPr id="10" name="Text 7"/>
          <p:cNvSpPr/>
          <p:nvPr/>
        </p:nvSpPr>
        <p:spPr>
          <a:xfrm>
            <a:off x="3202384" y="2453641"/>
            <a:ext cx="1434624" cy="9169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AST script finds methods renamed with a near-identical body</a:t>
            </a:r>
            <a:endParaRPr lang="en-US" sz="1300" dirty="0"/>
          </a:p>
        </p:txBody>
      </p:sp>
      <p:pic>
        <p:nvPicPr>
          <p:cNvPr id="11" name="Image 1" descr="arrow-right">    </p:cNvPr>
          <p:cNvPicPr>
            <a:picLocks noChangeAspect="1"/>
          </p:cNvPicPr>
          <p:nvPr/>
        </p:nvPicPr>
        <p:blipFill>
          <a:blip r:embed="rId2"/>
          <a:srcRect l="0" r="0" t="0" b="0"/>
          <a:stretch/>
        </p:blipFill>
        <p:spPr>
          <a:xfrm>
            <a:off x="4870688" y="2627630"/>
            <a:ext cx="254000" cy="254000"/>
          </a:xfrm>
          <a:prstGeom prst="rect">
            <a:avLst/>
          </a:prstGeom>
        </p:spPr>
      </p:pic>
      <p:sp>
        <p:nvSpPr>
          <p:cNvPr id="12" name="Shape 8"/>
          <p:cNvSpPr/>
          <p:nvPr/>
        </p:nvSpPr>
        <p:spPr>
          <a:xfrm>
            <a:off x="5229463" y="1984375"/>
            <a:ext cx="1743154" cy="1540510"/>
          </a:xfrm>
          <a:prstGeom prst="roundRect">
            <a:avLst>
              <a:gd name="adj" fmla="val 6389"/>
            </a:avLst>
          </a:prstGeom>
          <a:solidFill>
            <a:srgbClr val="FFFDF8"/>
          </a:solidFill>
          <a:ln w="6350">
            <a:solidFill>
              <a:srgbClr val="DDD7C8"/>
            </a:solidFill>
            <a:prstDash val="solid"/>
          </a:ln>
        </p:spPr>
      </p:sp>
      <p:sp>
        <p:nvSpPr>
          <p:cNvPr id="13" name="Text 9"/>
          <p:cNvSpPr/>
          <p:nvPr/>
        </p:nvSpPr>
        <p:spPr>
          <a:xfrm>
            <a:off x="5409168" y="2164080"/>
            <a:ext cx="143454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01A"/>
                </a:solidFill>
                <a:latin typeface="IBM Plex Sans" pitchFamily="34" charset="0"/>
                <a:ea typeface="IBM Plex Sans" pitchFamily="34" charset="-122"/>
                <a:cs typeface="IBM Plex Sans" pitchFamily="34" charset="-120"/>
              </a:rPr>
              <a:t>3 · Review</a:t>
            </a:r>
            <a:endParaRPr lang="en-US" sz="1200" dirty="0"/>
          </a:p>
        </p:txBody>
      </p:sp>
      <p:sp>
        <p:nvSpPr>
          <p:cNvPr id="14" name="Text 10"/>
          <p:cNvSpPr/>
          <p:nvPr/>
        </p:nvSpPr>
        <p:spPr>
          <a:xfrm>
            <a:off x="5409168" y="2453641"/>
            <a:ext cx="1434544" cy="9169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Unsure cases checked Y / N, bulk commits capped</a:t>
            </a:r>
            <a:endParaRPr lang="en-US" sz="1300" dirty="0"/>
          </a:p>
        </p:txBody>
      </p:sp>
      <p:pic>
        <p:nvPicPr>
          <p:cNvPr id="15" name="Image 2" descr="arrow-right">    </p:cNvPr>
          <p:cNvPicPr>
            <a:picLocks noChangeAspect="1"/>
          </p:cNvPicPr>
          <p:nvPr/>
        </p:nvPicPr>
        <p:blipFill>
          <a:blip r:embed="rId3"/>
          <a:srcRect l="0" r="0" t="0" b="0"/>
          <a:stretch/>
        </p:blipFill>
        <p:spPr>
          <a:xfrm>
            <a:off x="7077393" y="2627630"/>
            <a:ext cx="254000" cy="254000"/>
          </a:xfrm>
          <a:prstGeom prst="rect">
            <a:avLst/>
          </a:prstGeom>
        </p:spPr>
      </p:pic>
      <p:sp>
        <p:nvSpPr>
          <p:cNvPr id="16" name="Shape 11"/>
          <p:cNvSpPr/>
          <p:nvPr/>
        </p:nvSpPr>
        <p:spPr>
          <a:xfrm>
            <a:off x="7436168" y="1984375"/>
            <a:ext cx="1743234" cy="1540510"/>
          </a:xfrm>
          <a:prstGeom prst="roundRect">
            <a:avLst>
              <a:gd name="adj" fmla="val 6389"/>
            </a:avLst>
          </a:prstGeom>
          <a:solidFill>
            <a:srgbClr val="FFFDF8"/>
          </a:solidFill>
          <a:ln w="6350">
            <a:solidFill>
              <a:srgbClr val="DDD7C8"/>
            </a:solidFill>
            <a:prstDash val="solid"/>
          </a:ln>
        </p:spPr>
      </p:sp>
      <p:sp>
        <p:nvSpPr>
          <p:cNvPr id="17" name="Text 12"/>
          <p:cNvSpPr/>
          <p:nvPr/>
        </p:nvSpPr>
        <p:spPr>
          <a:xfrm>
            <a:off x="7615872" y="2164080"/>
            <a:ext cx="14346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01A"/>
                </a:solidFill>
                <a:latin typeface="IBM Plex Sans" pitchFamily="34" charset="0"/>
                <a:ea typeface="IBM Plex Sans" pitchFamily="34" charset="-122"/>
                <a:cs typeface="IBM Plex Sans" pitchFamily="34" charset="-120"/>
              </a:rPr>
              <a:t>4 · Features</a:t>
            </a:r>
            <a:endParaRPr lang="en-US" sz="1200" dirty="0"/>
          </a:p>
        </p:txBody>
      </p:sp>
      <p:sp>
        <p:nvSpPr>
          <p:cNvPr id="18" name="Text 13"/>
          <p:cNvSpPr/>
          <p:nvPr/>
        </p:nvSpPr>
        <p:spPr>
          <a:xfrm>
            <a:off x="7615872" y="2453641"/>
            <a:ext cx="1434624"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Up to 46 numbers per method, from Before code only</a:t>
            </a:r>
            <a:endParaRPr lang="en-US" sz="1300" dirty="0"/>
          </a:p>
        </p:txBody>
      </p:sp>
      <p:pic>
        <p:nvPicPr>
          <p:cNvPr id="19" name="Image 3" descr="arrow-right">    </p:cNvPr>
          <p:cNvPicPr>
            <a:picLocks noChangeAspect="1"/>
          </p:cNvPicPr>
          <p:nvPr/>
        </p:nvPicPr>
        <p:blipFill>
          <a:blip r:embed="rId4"/>
          <a:srcRect l="0" r="0" t="0" b="0"/>
          <a:stretch/>
        </p:blipFill>
        <p:spPr>
          <a:xfrm>
            <a:off x="9284177" y="2627630"/>
            <a:ext cx="254000" cy="254000"/>
          </a:xfrm>
          <a:prstGeom prst="rect">
            <a:avLst/>
          </a:prstGeom>
        </p:spPr>
      </p:pic>
      <p:sp>
        <p:nvSpPr>
          <p:cNvPr id="20" name="Shape 14"/>
          <p:cNvSpPr/>
          <p:nvPr/>
        </p:nvSpPr>
        <p:spPr>
          <a:xfrm>
            <a:off x="9639777" y="1981200"/>
            <a:ext cx="1739424" cy="1546860"/>
          </a:xfrm>
          <a:prstGeom prst="roundRect">
            <a:avLst>
              <a:gd name="adj" fmla="val 6568"/>
            </a:avLst>
          </a:prstGeom>
          <a:solidFill>
            <a:srgbClr val="14213D"/>
          </a:solidFill>
          <a:ln/>
        </p:spPr>
      </p:sp>
      <p:sp>
        <p:nvSpPr>
          <p:cNvPr id="21" name="Text 15"/>
          <p:cNvSpPr/>
          <p:nvPr/>
        </p:nvSpPr>
        <p:spPr>
          <a:xfrm>
            <a:off x="9817577" y="2159000"/>
            <a:ext cx="14346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36B"/>
                </a:solidFill>
                <a:latin typeface="IBM Plex Sans" pitchFamily="34" charset="0"/>
                <a:ea typeface="IBM Plex Sans" pitchFamily="34" charset="-122"/>
                <a:cs typeface="IBM Plex Sans" pitchFamily="34" charset="-120"/>
              </a:rPr>
              <a:t>5 · Models</a:t>
            </a:r>
            <a:endParaRPr lang="en-US" sz="1200" dirty="0"/>
          </a:p>
        </p:txBody>
      </p:sp>
      <p:sp>
        <p:nvSpPr>
          <p:cNvPr id="22" name="Text 16"/>
          <p:cNvSpPr/>
          <p:nvPr/>
        </p:nvSpPr>
        <p:spPr>
          <a:xfrm>
            <a:off x="9817577" y="2448561"/>
            <a:ext cx="1434624" cy="9169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4EE"/>
                </a:solidFill>
                <a:latin typeface="IBM Plex Sans" pitchFamily="34" charset="0"/>
                <a:ea typeface="IBM Plex Sans" pitchFamily="34" charset="-122"/>
                <a:cs typeface="IBM Plex Sans" pitchFamily="34" charset="-120"/>
              </a:rPr>
              <a:t>Baselines, Logistic Regression, Random Forest, LightGBM</a:t>
            </a:r>
            <a:endParaRPr lang="en-US" sz="1300" dirty="0"/>
          </a:p>
        </p:txBody>
      </p:sp>
      <p:sp>
        <p:nvSpPr>
          <p:cNvPr id="23" name="Text 17"/>
          <p:cNvSpPr/>
          <p:nvPr/>
        </p:nvSpPr>
        <p:spPr>
          <a:xfrm>
            <a:off x="812800" y="3934461"/>
            <a:ext cx="98107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C"/>
                </a:solidFill>
                <a:latin typeface="IBM Plex Sans" pitchFamily="34" charset="0"/>
                <a:ea typeface="IBM Plex Sans" pitchFamily="34" charset="-122"/>
                <a:cs typeface="IBM Plex Sans" pitchFamily="34" charset="-120"/>
              </a:rPr>
              <a:t>All scripts run on our own machines (Python, pandas, scikit-learn); heavy training runs in Google Colab.</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STEP 1 OF 9 · GET THE DATA</a:t>
            </a:r>
            <a:endParaRPr lang="en-US" sz="1200" dirty="0"/>
          </a:p>
        </p:txBody>
      </p:sp>
      <p:sp>
        <p:nvSpPr>
          <p:cNvPr id="3" name="Text 1"/>
          <p:cNvSpPr/>
          <p:nvPr>
            <p:ph type="title"/>
          </p:nvPr>
        </p:nvSpPr>
        <p:spPr>
          <a:xfrm>
            <a:off x="812800" y="1127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Downloaded the ActRef dataset</a:t>
            </a:r>
            <a:endParaRPr lang="en-US" sz="3000" dirty="0"/>
          </a:p>
        </p:txBody>
      </p:sp>
      <p:sp>
        <p:nvSpPr>
          <p:cNvPr id="4" name="Shape 2"/>
          <p:cNvSpPr/>
          <p:nvPr/>
        </p:nvSpPr>
        <p:spPr>
          <a:xfrm>
            <a:off x="815975" y="1854836"/>
            <a:ext cx="3400584" cy="2307590"/>
          </a:xfrm>
          <a:prstGeom prst="roundRect">
            <a:avLst>
              <a:gd name="adj" fmla="val 4265"/>
            </a:avLst>
          </a:prstGeom>
          <a:solidFill>
            <a:srgbClr val="FFFDF8"/>
          </a:solidFill>
          <a:ln w="6350">
            <a:solidFill>
              <a:srgbClr val="DDD7C8"/>
            </a:solidFill>
            <a:prstDash val="solid"/>
          </a:ln>
        </p:spPr>
      </p:sp>
      <p:sp>
        <p:nvSpPr>
          <p:cNvPr id="5" name="Text 3"/>
          <p:cNvSpPr/>
          <p:nvPr/>
        </p:nvSpPr>
        <p:spPr>
          <a:xfrm>
            <a:off x="1046480" y="2085339"/>
            <a:ext cx="30277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5501A"/>
                </a:solidFill>
                <a:latin typeface="IBM Plex Sans" pitchFamily="34" charset="0"/>
                <a:ea typeface="IBM Plex Sans" pitchFamily="34" charset="-122"/>
                <a:cs typeface="IBM Plex Sans" pitchFamily="34" charset="-120"/>
              </a:rPr>
              <a:t>What we did</a:t>
            </a:r>
            <a:endParaRPr lang="en-US" sz="1500" dirty="0"/>
          </a:p>
        </p:txBody>
      </p:sp>
      <p:sp>
        <p:nvSpPr>
          <p:cNvPr id="6" name="Text 4"/>
          <p:cNvSpPr/>
          <p:nvPr/>
        </p:nvSpPr>
        <p:spPr>
          <a:xfrm>
            <a:off x="1046480" y="2402839"/>
            <a:ext cx="3027761"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Downloaded </a:t>
            </a:r>
            <a:r>
              <a:rPr lang="en-US" sz="1350" b="1" dirty="0">
                <a:solidFill>
                  <a:srgbClr val="3E4A5C"/>
                </a:solidFill>
                <a:latin typeface="IBM Plex Sans" pitchFamily="34" charset="0"/>
                <a:ea typeface="IBM Plex Sans" pitchFamily="34" charset="-122"/>
                <a:cs typeface="IBM Plex Sans" pitchFamily="34" charset="-120"/>
              </a:rPr>
              <a:t>commits.zip</a:t>
            </a:r>
            <a:r>
              <a:rPr lang="en-US" sz="1350" dirty="0">
                <a:solidFill>
                  <a:srgbClr val="3E4A5C"/>
                </a:solidFill>
                <a:latin typeface="IBM Plex Sans" pitchFamily="34" charset="0"/>
                <a:ea typeface="IBM Plex Sans" pitchFamily="34" charset="-122"/>
                <a:cs typeface="IBM Plex Sans" pitchFamily="34" charset="-120"/>
              </a:rPr>
              <a:t> from the ActRef replication package on figshare.</a:t>
            </a:r>
            <a:endParaRPr lang="en-US" sz="1350" dirty="0"/>
          </a:p>
        </p:txBody>
      </p:sp>
      <p:sp>
        <p:nvSpPr>
          <p:cNvPr id="7" name="Text 5"/>
          <p:cNvSpPr/>
          <p:nvPr/>
        </p:nvSpPr>
        <p:spPr>
          <a:xfrm>
            <a:off x="1046480" y="3211832"/>
            <a:ext cx="3027761"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Unzipped it into </a:t>
            </a:r>
            <a:r>
              <a:rPr lang="en-US" sz="1350" b="1" dirty="0">
                <a:solidFill>
                  <a:srgbClr val="3E4A5C"/>
                </a:solidFill>
                <a:latin typeface="IBM Plex Sans" pitchFamily="34" charset="0"/>
                <a:ea typeface="IBM Plex Sans" pitchFamily="34" charset="-122"/>
                <a:cs typeface="IBM Plex Sans" pitchFamily="34" charset="-120"/>
              </a:rPr>
              <a:t>data/raw_act</a:t>
            </a:r>
            <a:r>
              <a:rPr lang="en-US" sz="1350" dirty="0">
                <a:solidFill>
                  <a:srgbClr val="3E4A5C"/>
                </a:solidFill>
                <a:latin typeface="IBM Plex Sans" pitchFamily="34" charset="0"/>
                <a:ea typeface="IBM Plex Sans" pitchFamily="34" charset="-122"/>
                <a:cs typeface="IBM Plex Sans" pitchFamily="34" charset="-120"/>
              </a:rPr>
              <a:t>. Skipped </a:t>
            </a:r>
            <a:r>
              <a:rPr lang="en-US" sz="1350" b="1" dirty="0">
                <a:solidFill>
                  <a:srgbClr val="3E4A5C"/>
                </a:solidFill>
                <a:latin typeface="IBM Plex Sans" pitchFamily="34" charset="0"/>
                <a:ea typeface="IBM Plex Sans" pitchFamily="34" charset="-122"/>
                <a:cs typeface="IBM Plex Sans" pitchFamily="34" charset="-120"/>
              </a:rPr>
              <a:t>gumtree.jar</a:t>
            </a:r>
            <a:r>
              <a:rPr lang="en-US" sz="1350" dirty="0">
                <a:solidFill>
                  <a:srgbClr val="3E4A5C"/>
                </a:solidFill>
                <a:latin typeface="IBM Plex Sans" pitchFamily="34" charset="0"/>
                <a:ea typeface="IBM Plex Sans" pitchFamily="34" charset="-122"/>
                <a:cs typeface="IBM Plex Sans" pitchFamily="34" charset="-120"/>
              </a:rPr>
              <a:t>: a code-diff tool, not data.</a:t>
            </a:r>
            <a:endParaRPr lang="en-US" sz="1350" dirty="0"/>
          </a:p>
        </p:txBody>
      </p:sp>
      <p:sp>
        <p:nvSpPr>
          <p:cNvPr id="8" name="Shape 6"/>
          <p:cNvSpPr/>
          <p:nvPr/>
        </p:nvSpPr>
        <p:spPr>
          <a:xfrm>
            <a:off x="4400709" y="1854836"/>
            <a:ext cx="3400663" cy="2307590"/>
          </a:xfrm>
          <a:prstGeom prst="roundRect">
            <a:avLst>
              <a:gd name="adj" fmla="val 4265"/>
            </a:avLst>
          </a:prstGeom>
          <a:solidFill>
            <a:srgbClr val="FFFDF8"/>
          </a:solidFill>
          <a:ln w="6350">
            <a:solidFill>
              <a:srgbClr val="DDD7C8"/>
            </a:solidFill>
            <a:prstDash val="solid"/>
          </a:ln>
        </p:spPr>
      </p:sp>
      <p:sp>
        <p:nvSpPr>
          <p:cNvPr id="9" name="Text 7"/>
          <p:cNvSpPr/>
          <p:nvPr/>
        </p:nvSpPr>
        <p:spPr>
          <a:xfrm>
            <a:off x="4631214" y="2085339"/>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8A"/>
                </a:solidFill>
                <a:latin typeface="IBM Plex Sans" pitchFamily="34" charset="0"/>
                <a:ea typeface="IBM Plex Sans" pitchFamily="34" charset="-122"/>
                <a:cs typeface="IBM Plex Sans" pitchFamily="34" charset="-120"/>
              </a:rPr>
              <a:t>Why</a:t>
            </a:r>
            <a:endParaRPr lang="en-US" sz="1500" dirty="0"/>
          </a:p>
        </p:txBody>
      </p:sp>
      <p:sp>
        <p:nvSpPr>
          <p:cNvPr id="10" name="Text 8"/>
          <p:cNvSpPr/>
          <p:nvPr/>
        </p:nvSpPr>
        <p:spPr>
          <a:xfrm>
            <a:off x="4631214" y="2402839"/>
            <a:ext cx="3027843"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We need many real examples of renamed methods to teach a model.</a:t>
            </a:r>
            <a:endParaRPr lang="en-US" sz="1350" dirty="0"/>
          </a:p>
        </p:txBody>
      </p:sp>
      <p:sp>
        <p:nvSpPr>
          <p:cNvPr id="11" name="Text 9"/>
          <p:cNvSpPr/>
          <p:nvPr/>
        </p:nvSpPr>
        <p:spPr>
          <a:xfrm>
            <a:off x="4631214" y="2971800"/>
            <a:ext cx="3027843"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ActRef (2025) covers 136 open-source Python projects and reports 432 Rename Method cases.</a:t>
            </a:r>
            <a:endParaRPr lang="en-US" sz="1350" dirty="0"/>
          </a:p>
        </p:txBody>
      </p:sp>
      <p:sp>
        <p:nvSpPr>
          <p:cNvPr id="12" name="Shape 10"/>
          <p:cNvSpPr/>
          <p:nvPr/>
        </p:nvSpPr>
        <p:spPr>
          <a:xfrm>
            <a:off x="7982347" y="1851661"/>
            <a:ext cx="3396853" cy="2313940"/>
          </a:xfrm>
          <a:prstGeom prst="roundRect">
            <a:avLst>
              <a:gd name="adj" fmla="val 4391"/>
            </a:avLst>
          </a:prstGeom>
          <a:solidFill>
            <a:srgbClr val="14213D"/>
          </a:solidFill>
          <a:ln/>
        </p:spPr>
      </p:sp>
      <p:sp>
        <p:nvSpPr>
          <p:cNvPr id="13" name="Text 11"/>
          <p:cNvSpPr/>
          <p:nvPr/>
        </p:nvSpPr>
        <p:spPr>
          <a:xfrm>
            <a:off x="8210947" y="2080261"/>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6B"/>
                </a:solidFill>
                <a:latin typeface="IBM Plex Sans" pitchFamily="34" charset="0"/>
                <a:ea typeface="IBM Plex Sans" pitchFamily="34" charset="-122"/>
                <a:cs typeface="IBM Plex Sans" pitchFamily="34" charset="-120"/>
              </a:rPr>
              <a:t>Result</a:t>
            </a:r>
            <a:endParaRPr lang="en-US" sz="1500" dirty="0"/>
          </a:p>
        </p:txBody>
      </p:sp>
      <p:sp>
        <p:nvSpPr>
          <p:cNvPr id="14" name="Text 12"/>
          <p:cNvSpPr/>
          <p:nvPr/>
        </p:nvSpPr>
        <p:spPr>
          <a:xfrm>
            <a:off x="8210947" y="2397761"/>
            <a:ext cx="302784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6F4EE"/>
                </a:solidFill>
                <a:latin typeface="Source Serif 4" pitchFamily="18" charset="0"/>
                <a:ea typeface="Source Serif 4" pitchFamily="18" charset="-122"/>
                <a:cs typeface="Source Serif 4" pitchFamily="18" charset="-120"/>
              </a:rPr>
              <a:t>1,160</a:t>
            </a:r>
            <a:endParaRPr lang="en-US" sz="3600" dirty="0"/>
          </a:p>
        </p:txBody>
      </p:sp>
      <p:sp>
        <p:nvSpPr>
          <p:cNvPr id="15" name="Text 13"/>
          <p:cNvSpPr/>
          <p:nvPr/>
        </p:nvSpPr>
        <p:spPr>
          <a:xfrm>
            <a:off x="8210947" y="2943861"/>
            <a:ext cx="3027843"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commit folders of real Python code on our machine</a:t>
            </a:r>
            <a:endParaRPr lang="en-US" sz="135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Source: Wang et al., ActRef, arXiv 2505.06553 (2025)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STEP 2 OF 9 · EXPLORE</a:t>
            </a:r>
            <a:endParaRPr lang="en-US" sz="1200" dirty="0"/>
          </a:p>
        </p:txBody>
      </p:sp>
      <p:sp>
        <p:nvSpPr>
          <p:cNvPr id="3" name="Text 1"/>
          <p:cNvSpPr/>
          <p:nvPr>
            <p:ph type="title"/>
          </p:nvPr>
        </p:nvSpPr>
        <p:spPr>
          <a:xfrm>
            <a:off x="812800" y="1127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Looked inside: code, but no answer key</a:t>
            </a:r>
            <a:endParaRPr lang="en-US" sz="3000" dirty="0"/>
          </a:p>
        </p:txBody>
      </p:sp>
      <p:sp>
        <p:nvSpPr>
          <p:cNvPr id="4" name="Shape 2"/>
          <p:cNvSpPr/>
          <p:nvPr/>
        </p:nvSpPr>
        <p:spPr>
          <a:xfrm>
            <a:off x="815975" y="1854836"/>
            <a:ext cx="3400584" cy="2297430"/>
          </a:xfrm>
          <a:prstGeom prst="roundRect">
            <a:avLst>
              <a:gd name="adj" fmla="val 4284"/>
            </a:avLst>
          </a:prstGeom>
          <a:solidFill>
            <a:srgbClr val="FFFDF8"/>
          </a:solidFill>
          <a:ln w="6350">
            <a:solidFill>
              <a:srgbClr val="DDD7C8"/>
            </a:solidFill>
            <a:prstDash val="solid"/>
          </a:ln>
        </p:spPr>
      </p:sp>
      <p:sp>
        <p:nvSpPr>
          <p:cNvPr id="5" name="Text 3"/>
          <p:cNvSpPr/>
          <p:nvPr/>
        </p:nvSpPr>
        <p:spPr>
          <a:xfrm>
            <a:off x="1046480" y="2085339"/>
            <a:ext cx="30277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5501A"/>
                </a:solidFill>
                <a:latin typeface="IBM Plex Sans" pitchFamily="34" charset="0"/>
                <a:ea typeface="IBM Plex Sans" pitchFamily="34" charset="-122"/>
                <a:cs typeface="IBM Plex Sans" pitchFamily="34" charset="-120"/>
              </a:rPr>
              <a:t>What we did</a:t>
            </a:r>
            <a:endParaRPr lang="en-US" sz="1500" dirty="0"/>
          </a:p>
        </p:txBody>
      </p:sp>
      <p:sp>
        <p:nvSpPr>
          <p:cNvPr id="6" name="Text 4"/>
          <p:cNvSpPr/>
          <p:nvPr/>
        </p:nvSpPr>
        <p:spPr>
          <a:xfrm>
            <a:off x="1046480" y="2402839"/>
            <a:ext cx="3027761"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Wrote </a:t>
            </a:r>
            <a:r>
              <a:rPr lang="en-US" sz="1350" b="1" dirty="0">
                <a:solidFill>
                  <a:srgbClr val="3E4A5C"/>
                </a:solidFill>
                <a:latin typeface="IBM Plex Sans" pitchFamily="34" charset="0"/>
                <a:ea typeface="IBM Plex Sans" pitchFamily="34" charset="-122"/>
                <a:cs typeface="IBM Plex Sans" pitchFamily="34" charset="-120"/>
              </a:rPr>
              <a:t>Act_Explore.py</a:t>
            </a:r>
            <a:r>
              <a:rPr lang="en-US" sz="1350" dirty="0">
                <a:solidFill>
                  <a:srgbClr val="3E4A5C"/>
                </a:solidFill>
                <a:latin typeface="IBM Plex Sans" pitchFamily="34" charset="0"/>
                <a:ea typeface="IBM Plex Sans" pitchFamily="34" charset="-122"/>
                <a:cs typeface="IBM Plex Sans" pitchFamily="34" charset="-120"/>
              </a:rPr>
              <a:t> to list every file, count file types and open one commit as an example.</a:t>
            </a:r>
            <a:endParaRPr lang="en-US" sz="1350" dirty="0"/>
          </a:p>
        </p:txBody>
      </p:sp>
      <p:sp>
        <p:nvSpPr>
          <p:cNvPr id="7" name="Shape 5"/>
          <p:cNvSpPr/>
          <p:nvPr/>
        </p:nvSpPr>
        <p:spPr>
          <a:xfrm>
            <a:off x="4400709" y="1854836"/>
            <a:ext cx="3400663" cy="2297430"/>
          </a:xfrm>
          <a:prstGeom prst="roundRect">
            <a:avLst>
              <a:gd name="adj" fmla="val 4284"/>
            </a:avLst>
          </a:prstGeom>
          <a:solidFill>
            <a:srgbClr val="FFFDF8"/>
          </a:solidFill>
          <a:ln w="6350">
            <a:solidFill>
              <a:srgbClr val="DDD7C8"/>
            </a:solidFill>
            <a:prstDash val="solid"/>
          </a:ln>
        </p:spPr>
      </p:sp>
      <p:sp>
        <p:nvSpPr>
          <p:cNvPr id="8" name="Text 6"/>
          <p:cNvSpPr/>
          <p:nvPr/>
        </p:nvSpPr>
        <p:spPr>
          <a:xfrm>
            <a:off x="4631214" y="2085339"/>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8A"/>
                </a:solidFill>
                <a:latin typeface="IBM Plex Sans" pitchFamily="34" charset="0"/>
                <a:ea typeface="IBM Plex Sans" pitchFamily="34" charset="-122"/>
                <a:cs typeface="IBM Plex Sans" pitchFamily="34" charset="-120"/>
              </a:rPr>
              <a:t>Why</a:t>
            </a:r>
            <a:endParaRPr lang="en-US" sz="1500" dirty="0"/>
          </a:p>
        </p:txBody>
      </p:sp>
      <p:sp>
        <p:nvSpPr>
          <p:cNvPr id="9" name="Text 7"/>
          <p:cNvSpPr/>
          <p:nvPr/>
        </p:nvSpPr>
        <p:spPr>
          <a:xfrm>
            <a:off x="4631214" y="2402839"/>
            <a:ext cx="3027843"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Before writing any loader, we had to know the format: where the code is and where the labels are.</a:t>
            </a:r>
            <a:endParaRPr lang="en-US" sz="1350" dirty="0"/>
          </a:p>
        </p:txBody>
      </p:sp>
      <p:sp>
        <p:nvSpPr>
          <p:cNvPr id="10" name="Shape 8"/>
          <p:cNvSpPr/>
          <p:nvPr/>
        </p:nvSpPr>
        <p:spPr>
          <a:xfrm>
            <a:off x="7982347" y="1851661"/>
            <a:ext cx="3396853" cy="2303780"/>
          </a:xfrm>
          <a:prstGeom prst="roundRect">
            <a:avLst>
              <a:gd name="adj" fmla="val 4410"/>
            </a:avLst>
          </a:prstGeom>
          <a:solidFill>
            <a:srgbClr val="14213D"/>
          </a:solidFill>
          <a:ln/>
        </p:spPr>
      </p:sp>
      <p:sp>
        <p:nvSpPr>
          <p:cNvPr id="11" name="Text 9"/>
          <p:cNvSpPr/>
          <p:nvPr/>
        </p:nvSpPr>
        <p:spPr>
          <a:xfrm>
            <a:off x="8210947" y="2080261"/>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6B"/>
                </a:solidFill>
                <a:latin typeface="IBM Plex Sans" pitchFamily="34" charset="0"/>
                <a:ea typeface="IBM Plex Sans" pitchFamily="34" charset="-122"/>
                <a:cs typeface="IBM Plex Sans" pitchFamily="34" charset="-120"/>
              </a:rPr>
              <a:t>Result</a:t>
            </a:r>
            <a:endParaRPr lang="en-US" sz="1500" dirty="0"/>
          </a:p>
        </p:txBody>
      </p:sp>
      <p:sp>
        <p:nvSpPr>
          <p:cNvPr id="12" name="Text 10"/>
          <p:cNvSpPr/>
          <p:nvPr/>
        </p:nvSpPr>
        <p:spPr>
          <a:xfrm>
            <a:off x="8210947" y="2397761"/>
            <a:ext cx="3027843"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Each commit has a </a:t>
            </a:r>
            <a:r>
              <a:rPr lang="en-US" sz="1350" b="1" dirty="0">
                <a:solidFill>
                  <a:srgbClr val="C9D1DE"/>
                </a:solidFill>
                <a:latin typeface="IBM Plex Sans" pitchFamily="34" charset="0"/>
                <a:ea typeface="IBM Plex Sans" pitchFamily="34" charset="-122"/>
                <a:cs typeface="IBM Plex Sans" pitchFamily="34" charset="-120"/>
              </a:rPr>
              <a:t>Before</a:t>
            </a:r>
            <a:r>
              <a:rPr lang="en-US" sz="1350" dirty="0">
                <a:solidFill>
                  <a:srgbClr val="C9D1DE"/>
                </a:solidFill>
                <a:latin typeface="IBM Plex Sans" pitchFamily="34" charset="0"/>
                <a:ea typeface="IBM Plex Sans" pitchFamily="34" charset="-122"/>
                <a:cs typeface="IBM Plex Sans" pitchFamily="34" charset="-120"/>
              </a:rPr>
              <a:t> and an </a:t>
            </a:r>
            <a:r>
              <a:rPr lang="en-US" sz="1350" b="1" dirty="0">
                <a:solidFill>
                  <a:srgbClr val="C9D1DE"/>
                </a:solidFill>
                <a:latin typeface="IBM Plex Sans" pitchFamily="34" charset="0"/>
                <a:ea typeface="IBM Plex Sans" pitchFamily="34" charset="-122"/>
                <a:cs typeface="IBM Plex Sans" pitchFamily="34" charset="-120"/>
              </a:rPr>
              <a:t>After</a:t>
            </a:r>
            <a:r>
              <a:rPr lang="en-US" sz="1350" dirty="0">
                <a:solidFill>
                  <a:srgbClr val="C9D1DE"/>
                </a:solidFill>
                <a:latin typeface="IBM Plex Sans" pitchFamily="34" charset="0"/>
                <a:ea typeface="IBM Plex Sans" pitchFamily="34" charset="-122"/>
                <a:cs typeface="IBM Plex Sans" pitchFamily="34" charset="-120"/>
              </a:rPr>
              <a:t> folder with the changed .py files (10,668 files).</a:t>
            </a:r>
            <a:endParaRPr lang="en-US" sz="1350" dirty="0"/>
          </a:p>
        </p:txBody>
      </p:sp>
      <p:sp>
        <p:nvSpPr>
          <p:cNvPr id="13" name="Text 11"/>
          <p:cNvSpPr/>
          <p:nvPr/>
        </p:nvSpPr>
        <p:spPr>
          <a:xfrm>
            <a:off x="8210947" y="3206750"/>
            <a:ext cx="3027843" cy="74549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0A36B"/>
                </a:solidFill>
                <a:latin typeface="IBM Plex Sans" pitchFamily="34" charset="0"/>
                <a:ea typeface="IBM Plex Sans" pitchFamily="34" charset="-122"/>
                <a:cs typeface="IBM Plex Sans" pitchFamily="34" charset="-120"/>
              </a:rPr>
              <a:t>No label file</a:t>
            </a:r>
            <a:r>
              <a:rPr lang="en-US" sz="1350" dirty="0">
                <a:solidFill>
                  <a:srgbClr val="C9D1DE"/>
                </a:solidFill>
                <a:latin typeface="IBM Plex Sans" pitchFamily="34" charset="0"/>
                <a:ea typeface="IBM Plex Sans" pitchFamily="34" charset="-122"/>
                <a:cs typeface="IBM Plex Sans" pitchFamily="34" charset="-120"/>
              </a:rPr>
              <a:t>: nothing says which methods were renamed. We had to build the labels ourselves.</a:t>
            </a:r>
            <a:endParaRPr lang="en-US" sz="1350" dirty="0"/>
          </a:p>
        </p:txBody>
      </p:sp>
      <p:sp>
        <p:nvSpPr>
          <p:cNvPr id="14"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Script: Act_Explore.py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STEP 3 OF 9 · LABEL</a:t>
            </a:r>
            <a:endParaRPr lang="en-US" sz="1200" dirty="0"/>
          </a:p>
        </p:txBody>
      </p:sp>
      <p:sp>
        <p:nvSpPr>
          <p:cNvPr id="3" name="Text 1"/>
          <p:cNvSpPr/>
          <p:nvPr>
            <p:ph type="title"/>
          </p:nvPr>
        </p:nvSpPr>
        <p:spPr>
          <a:xfrm>
            <a:off x="812800" y="1127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Built our own rename detector</a:t>
            </a:r>
            <a:endParaRPr lang="en-US" sz="3000" dirty="0"/>
          </a:p>
        </p:txBody>
      </p:sp>
      <p:sp>
        <p:nvSpPr>
          <p:cNvPr id="4" name="Shape 2"/>
          <p:cNvSpPr/>
          <p:nvPr/>
        </p:nvSpPr>
        <p:spPr>
          <a:xfrm>
            <a:off x="815975" y="1854836"/>
            <a:ext cx="3400584" cy="2547620"/>
          </a:xfrm>
          <a:prstGeom prst="roundRect">
            <a:avLst>
              <a:gd name="adj" fmla="val 3863"/>
            </a:avLst>
          </a:prstGeom>
          <a:solidFill>
            <a:srgbClr val="FFFDF8"/>
          </a:solidFill>
          <a:ln w="6350">
            <a:solidFill>
              <a:srgbClr val="DDD7C8"/>
            </a:solidFill>
            <a:prstDash val="solid"/>
          </a:ln>
        </p:spPr>
      </p:sp>
      <p:sp>
        <p:nvSpPr>
          <p:cNvPr id="5" name="Text 3"/>
          <p:cNvSpPr/>
          <p:nvPr/>
        </p:nvSpPr>
        <p:spPr>
          <a:xfrm>
            <a:off x="1046480" y="2085339"/>
            <a:ext cx="30277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5501A"/>
                </a:solidFill>
                <a:latin typeface="IBM Plex Sans" pitchFamily="34" charset="0"/>
                <a:ea typeface="IBM Plex Sans" pitchFamily="34" charset="-122"/>
                <a:cs typeface="IBM Plex Sans" pitchFamily="34" charset="-120"/>
              </a:rPr>
              <a:t>What we did</a:t>
            </a:r>
            <a:endParaRPr lang="en-US" sz="1500" dirty="0"/>
          </a:p>
        </p:txBody>
      </p:sp>
      <p:sp>
        <p:nvSpPr>
          <p:cNvPr id="6" name="Text 4"/>
          <p:cNvSpPr/>
          <p:nvPr/>
        </p:nvSpPr>
        <p:spPr>
          <a:xfrm>
            <a:off x="1046480" y="2402839"/>
            <a:ext cx="3027761"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Wrote </a:t>
            </a:r>
            <a:r>
              <a:rPr lang="en-US" sz="1350" b="1" dirty="0">
                <a:solidFill>
                  <a:srgbClr val="3E4A5C"/>
                </a:solidFill>
                <a:latin typeface="IBM Plex Sans" pitchFamily="34" charset="0"/>
                <a:ea typeface="IBM Plex Sans" pitchFamily="34" charset="-122"/>
                <a:cs typeface="IBM Plex Sans" pitchFamily="34" charset="-120"/>
              </a:rPr>
              <a:t>Label_Renames.py</a:t>
            </a:r>
            <a:r>
              <a:rPr lang="en-US" sz="1350" dirty="0">
                <a:solidFill>
                  <a:srgbClr val="3E4A5C"/>
                </a:solidFill>
                <a:latin typeface="IBM Plex Sans" pitchFamily="34" charset="0"/>
                <a:ea typeface="IBM Plex Sans" pitchFamily="34" charset="-122"/>
                <a:cs typeface="IBM Plex Sans" pitchFamily="34" charset="-120"/>
              </a:rPr>
              <a:t>. It parses Before and After with Python’s ast module.</a:t>
            </a:r>
            <a:endParaRPr lang="en-US" sz="1350" dirty="0"/>
          </a:p>
        </p:txBody>
      </p:sp>
      <p:sp>
        <p:nvSpPr>
          <p:cNvPr id="7" name="Text 5"/>
          <p:cNvSpPr/>
          <p:nvPr/>
        </p:nvSpPr>
        <p:spPr>
          <a:xfrm>
            <a:off x="1046480" y="3211832"/>
            <a:ext cx="3027761" cy="9855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Rule: in the same file and class, a method name disappears, a new one appears, and their bodies are ≥ 70% similar.</a:t>
            </a:r>
            <a:endParaRPr lang="en-US" sz="1350" dirty="0"/>
          </a:p>
        </p:txBody>
      </p:sp>
      <p:sp>
        <p:nvSpPr>
          <p:cNvPr id="8" name="Shape 6"/>
          <p:cNvSpPr/>
          <p:nvPr/>
        </p:nvSpPr>
        <p:spPr>
          <a:xfrm>
            <a:off x="4400709" y="1854836"/>
            <a:ext cx="3400663" cy="2547620"/>
          </a:xfrm>
          <a:prstGeom prst="roundRect">
            <a:avLst>
              <a:gd name="adj" fmla="val 3863"/>
            </a:avLst>
          </a:prstGeom>
          <a:solidFill>
            <a:srgbClr val="FFFDF8"/>
          </a:solidFill>
          <a:ln w="6350">
            <a:solidFill>
              <a:srgbClr val="DDD7C8"/>
            </a:solidFill>
            <a:prstDash val="solid"/>
          </a:ln>
        </p:spPr>
      </p:sp>
      <p:sp>
        <p:nvSpPr>
          <p:cNvPr id="9" name="Text 7"/>
          <p:cNvSpPr/>
          <p:nvPr/>
        </p:nvSpPr>
        <p:spPr>
          <a:xfrm>
            <a:off x="4631214" y="2085339"/>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8A"/>
                </a:solidFill>
                <a:latin typeface="IBM Plex Sans" pitchFamily="34" charset="0"/>
                <a:ea typeface="IBM Plex Sans" pitchFamily="34" charset="-122"/>
                <a:cs typeface="IBM Plex Sans" pitchFamily="34" charset="-120"/>
              </a:rPr>
              <a:t>Why</a:t>
            </a:r>
            <a:endParaRPr lang="en-US" sz="1500" dirty="0"/>
          </a:p>
        </p:txBody>
      </p:sp>
      <p:sp>
        <p:nvSpPr>
          <p:cNvPr id="10" name="Text 8"/>
          <p:cNvSpPr/>
          <p:nvPr/>
        </p:nvSpPr>
        <p:spPr>
          <a:xfrm>
            <a:off x="4631214" y="2402839"/>
            <a:ext cx="3027843"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A rename keeps the body and changes only the name, so this rule matches the definition.</a:t>
            </a:r>
            <a:endParaRPr lang="en-US" sz="1350" dirty="0"/>
          </a:p>
        </p:txBody>
      </p:sp>
      <p:sp>
        <p:nvSpPr>
          <p:cNvPr id="11" name="Text 9"/>
          <p:cNvSpPr/>
          <p:nvPr/>
        </p:nvSpPr>
        <p:spPr>
          <a:xfrm>
            <a:off x="4631214" y="3211832"/>
            <a:ext cx="3027843"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It was the only way to get labels from the download.</a:t>
            </a:r>
            <a:endParaRPr lang="en-US" sz="1350" dirty="0"/>
          </a:p>
        </p:txBody>
      </p:sp>
      <p:sp>
        <p:nvSpPr>
          <p:cNvPr id="12" name="Shape 10"/>
          <p:cNvSpPr/>
          <p:nvPr/>
        </p:nvSpPr>
        <p:spPr>
          <a:xfrm>
            <a:off x="7982347" y="1851661"/>
            <a:ext cx="3396853" cy="2553970"/>
          </a:xfrm>
          <a:prstGeom prst="roundRect">
            <a:avLst>
              <a:gd name="adj" fmla="val 3978"/>
            </a:avLst>
          </a:prstGeom>
          <a:solidFill>
            <a:srgbClr val="14213D"/>
          </a:solidFill>
          <a:ln/>
        </p:spPr>
      </p:sp>
      <p:sp>
        <p:nvSpPr>
          <p:cNvPr id="13" name="Text 11"/>
          <p:cNvSpPr/>
          <p:nvPr/>
        </p:nvSpPr>
        <p:spPr>
          <a:xfrm>
            <a:off x="8210947" y="2080261"/>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6B"/>
                </a:solidFill>
                <a:latin typeface="IBM Plex Sans" pitchFamily="34" charset="0"/>
                <a:ea typeface="IBM Plex Sans" pitchFamily="34" charset="-122"/>
                <a:cs typeface="IBM Plex Sans" pitchFamily="34" charset="-120"/>
              </a:rPr>
              <a:t>Result</a:t>
            </a:r>
            <a:endParaRPr lang="en-US" sz="1500" dirty="0"/>
          </a:p>
        </p:txBody>
      </p:sp>
      <p:sp>
        <p:nvSpPr>
          <p:cNvPr id="14" name="Text 12"/>
          <p:cNvSpPr/>
          <p:nvPr/>
        </p:nvSpPr>
        <p:spPr>
          <a:xfrm>
            <a:off x="8210947" y="2397761"/>
            <a:ext cx="302784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6F4EE"/>
                </a:solidFill>
                <a:latin typeface="Source Serif 4" pitchFamily="18" charset="0"/>
                <a:ea typeface="Source Serif 4" pitchFamily="18" charset="-122"/>
                <a:cs typeface="Source Serif 4" pitchFamily="18" charset="-120"/>
              </a:rPr>
              <a:t>430</a:t>
            </a:r>
            <a:endParaRPr lang="en-US" sz="3600" dirty="0"/>
          </a:p>
        </p:txBody>
      </p:sp>
      <p:sp>
        <p:nvSpPr>
          <p:cNvPr id="15" name="Text 13"/>
          <p:cNvSpPr/>
          <p:nvPr/>
        </p:nvSpPr>
        <p:spPr>
          <a:xfrm>
            <a:off x="8210947" y="2943861"/>
            <a:ext cx="3027843"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renames found in 204 commits</a:t>
            </a:r>
            <a:endParaRPr lang="en-US" sz="1350" dirty="0"/>
          </a:p>
        </p:txBody>
      </p:sp>
      <p:sp>
        <p:nvSpPr>
          <p:cNvPr id="16" name="Text 14"/>
          <p:cNvSpPr/>
          <p:nvPr/>
        </p:nvSpPr>
        <p:spPr>
          <a:xfrm>
            <a:off x="8210947" y="3272789"/>
            <a:ext cx="3027843"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The ActRef paper reports 432: our detector matches it closely.</a:t>
            </a:r>
            <a:endParaRPr lang="en-US" sz="1350" dirty="0"/>
          </a:p>
        </p:txBody>
      </p:sp>
      <p:sp>
        <p:nvSpPr>
          <p:cNvPr id="17" name="Text 1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Script: Label_Renames.py · similarity measured with difflib on the method body (docstring removed)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STEP 4 OF 9 · CLEAN</a:t>
            </a:r>
            <a:endParaRPr lang="en-US" sz="1200" dirty="0"/>
          </a:p>
        </p:txBody>
      </p:sp>
      <p:sp>
        <p:nvSpPr>
          <p:cNvPr id="3" name="Text 1"/>
          <p:cNvSpPr/>
          <p:nvPr>
            <p:ph type="title"/>
          </p:nvPr>
        </p:nvSpPr>
        <p:spPr>
          <a:xfrm>
            <a:off x="812800" y="1127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Cleaned the detected renames</a:t>
            </a:r>
            <a:endParaRPr lang="en-US" sz="3000" dirty="0"/>
          </a:p>
        </p:txBody>
      </p:sp>
      <p:sp>
        <p:nvSpPr>
          <p:cNvPr id="4" name="Shape 2"/>
          <p:cNvSpPr/>
          <p:nvPr/>
        </p:nvSpPr>
        <p:spPr>
          <a:xfrm>
            <a:off x="815975" y="1854836"/>
            <a:ext cx="3400584" cy="2307590"/>
          </a:xfrm>
          <a:prstGeom prst="roundRect">
            <a:avLst>
              <a:gd name="adj" fmla="val 4265"/>
            </a:avLst>
          </a:prstGeom>
          <a:solidFill>
            <a:srgbClr val="FFFDF8"/>
          </a:solidFill>
          <a:ln w="6350">
            <a:solidFill>
              <a:srgbClr val="DDD7C8"/>
            </a:solidFill>
            <a:prstDash val="solid"/>
          </a:ln>
        </p:spPr>
      </p:sp>
      <p:sp>
        <p:nvSpPr>
          <p:cNvPr id="5" name="Text 3"/>
          <p:cNvSpPr/>
          <p:nvPr/>
        </p:nvSpPr>
        <p:spPr>
          <a:xfrm>
            <a:off x="1046480" y="2085339"/>
            <a:ext cx="30277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5501A"/>
                </a:solidFill>
                <a:latin typeface="IBM Plex Sans" pitchFamily="34" charset="0"/>
                <a:ea typeface="IBM Plex Sans" pitchFamily="34" charset="-122"/>
                <a:cs typeface="IBM Plex Sans" pitchFamily="34" charset="-120"/>
              </a:rPr>
              <a:t>What we did</a:t>
            </a:r>
            <a:endParaRPr lang="en-US" sz="1500" dirty="0"/>
          </a:p>
        </p:txBody>
      </p:sp>
      <p:sp>
        <p:nvSpPr>
          <p:cNvPr id="6" name="Text 4"/>
          <p:cNvSpPr/>
          <p:nvPr/>
        </p:nvSpPr>
        <p:spPr>
          <a:xfrm>
            <a:off x="1046480" y="2402839"/>
            <a:ext cx="3027761"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Removed </a:t>
            </a:r>
            <a:r>
              <a:rPr lang="en-US" sz="1350" b="1" dirty="0">
                <a:solidFill>
                  <a:srgbClr val="3E4A5C"/>
                </a:solidFill>
                <a:latin typeface="IBM Plex Sans" pitchFamily="34" charset="0"/>
                <a:ea typeface="IBM Plex Sans" pitchFamily="34" charset="-122"/>
                <a:cs typeface="IBM Plex Sans" pitchFamily="34" charset="-120"/>
              </a:rPr>
              <a:t>96 test methods</a:t>
            </a:r>
            <a:r>
              <a:rPr lang="en-US" sz="1350" dirty="0">
                <a:solidFill>
                  <a:srgbClr val="3E4A5C"/>
                </a:solidFill>
                <a:latin typeface="IBM Plex Sans" pitchFamily="34" charset="0"/>
                <a:ea typeface="IBM Plex Sans" pitchFamily="34" charset="-122"/>
                <a:cs typeface="IBM Plex Sans" pitchFamily="34" charset="-120"/>
              </a:rPr>
              <a:t> (test_…) and special methods (__init__…).</a:t>
            </a:r>
            <a:endParaRPr lang="en-US" sz="1350" dirty="0"/>
          </a:p>
        </p:txBody>
      </p:sp>
      <p:sp>
        <p:nvSpPr>
          <p:cNvPr id="7" name="Text 5"/>
          <p:cNvSpPr/>
          <p:nvPr/>
        </p:nvSpPr>
        <p:spPr>
          <a:xfrm>
            <a:off x="1046480" y="2971800"/>
            <a:ext cx="3027761"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Split the rest: </a:t>
            </a:r>
            <a:r>
              <a:rPr lang="en-US" sz="1350" b="1" dirty="0">
                <a:solidFill>
                  <a:srgbClr val="3E4A5C"/>
                </a:solidFill>
                <a:latin typeface="IBM Plex Sans" pitchFamily="34" charset="0"/>
                <a:ea typeface="IBM Plex Sans" pitchFamily="34" charset="-122"/>
                <a:cs typeface="IBM Plex Sans" pitchFamily="34" charset="-120"/>
              </a:rPr>
              <a:t>confident</a:t>
            </a:r>
            <a:r>
              <a:rPr lang="en-US" sz="1350" dirty="0">
                <a:solidFill>
                  <a:srgbClr val="3E4A5C"/>
                </a:solidFill>
                <a:latin typeface="IBM Plex Sans" pitchFamily="34" charset="0"/>
                <a:ea typeface="IBM Plex Sans" pitchFamily="34" charset="-122"/>
                <a:cs typeface="IBM Plex Sans" pitchFamily="34" charset="-120"/>
              </a:rPr>
              <a:t> = body ≥ 90% similar and same parameters; everything else </a:t>
            </a:r>
            <a:r>
              <a:rPr lang="en-US" sz="1350" b="1" dirty="0">
                <a:solidFill>
                  <a:srgbClr val="3E4A5C"/>
                </a:solidFill>
                <a:latin typeface="IBM Plex Sans" pitchFamily="34" charset="0"/>
                <a:ea typeface="IBM Plex Sans" pitchFamily="34" charset="-122"/>
                <a:cs typeface="IBM Plex Sans" pitchFamily="34" charset="-120"/>
              </a:rPr>
              <a:t>unsure</a:t>
            </a:r>
            <a:r>
              <a:rPr lang="en-US" sz="1350" dirty="0">
                <a:solidFill>
                  <a:srgbClr val="3E4A5C"/>
                </a:solidFill>
                <a:latin typeface="IBM Plex Sans" pitchFamily="34" charset="0"/>
                <a:ea typeface="IBM Plex Sans" pitchFamily="34" charset="-122"/>
                <a:cs typeface="IBM Plex Sans" pitchFamily="34" charset="-120"/>
              </a:rPr>
              <a:t>.</a:t>
            </a:r>
            <a:endParaRPr lang="en-US" sz="1350" dirty="0"/>
          </a:p>
        </p:txBody>
      </p:sp>
      <p:sp>
        <p:nvSpPr>
          <p:cNvPr id="8" name="Shape 6"/>
          <p:cNvSpPr/>
          <p:nvPr/>
        </p:nvSpPr>
        <p:spPr>
          <a:xfrm>
            <a:off x="4400709" y="1854836"/>
            <a:ext cx="3400663" cy="2307590"/>
          </a:xfrm>
          <a:prstGeom prst="roundRect">
            <a:avLst>
              <a:gd name="adj" fmla="val 4265"/>
            </a:avLst>
          </a:prstGeom>
          <a:solidFill>
            <a:srgbClr val="FFFDF8"/>
          </a:solidFill>
          <a:ln w="6350">
            <a:solidFill>
              <a:srgbClr val="DDD7C8"/>
            </a:solidFill>
            <a:prstDash val="solid"/>
          </a:ln>
        </p:spPr>
      </p:sp>
      <p:sp>
        <p:nvSpPr>
          <p:cNvPr id="9" name="Text 7"/>
          <p:cNvSpPr/>
          <p:nvPr/>
        </p:nvSpPr>
        <p:spPr>
          <a:xfrm>
            <a:off x="4631214" y="2085339"/>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8A"/>
                </a:solidFill>
                <a:latin typeface="IBM Plex Sans" pitchFamily="34" charset="0"/>
                <a:ea typeface="IBM Plex Sans" pitchFamily="34" charset="-122"/>
                <a:cs typeface="IBM Plex Sans" pitchFamily="34" charset="-120"/>
              </a:rPr>
              <a:t>Why</a:t>
            </a:r>
            <a:endParaRPr lang="en-US" sz="1500" dirty="0"/>
          </a:p>
        </p:txBody>
      </p:sp>
      <p:sp>
        <p:nvSpPr>
          <p:cNvPr id="10" name="Text 8"/>
          <p:cNvSpPr/>
          <p:nvPr/>
        </p:nvSpPr>
        <p:spPr>
          <a:xfrm>
            <a:off x="4631214" y="2402839"/>
            <a:ext cx="3027843"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Test methods are renamed for different reasons and would confuse the model.</a:t>
            </a:r>
            <a:endParaRPr lang="en-US" sz="1350" dirty="0"/>
          </a:p>
        </p:txBody>
      </p:sp>
      <p:sp>
        <p:nvSpPr>
          <p:cNvPr id="11" name="Text 9"/>
          <p:cNvSpPr/>
          <p:nvPr/>
        </p:nvSpPr>
        <p:spPr>
          <a:xfrm>
            <a:off x="4631214" y="3211832"/>
            <a:ext cx="3027843"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Short methods look alike, so some low-similarity matches were wrong pairs.</a:t>
            </a:r>
            <a:endParaRPr lang="en-US" sz="1350" dirty="0"/>
          </a:p>
        </p:txBody>
      </p:sp>
      <p:sp>
        <p:nvSpPr>
          <p:cNvPr id="12" name="Shape 10"/>
          <p:cNvSpPr/>
          <p:nvPr/>
        </p:nvSpPr>
        <p:spPr>
          <a:xfrm>
            <a:off x="7982347" y="1851661"/>
            <a:ext cx="3396853" cy="2313940"/>
          </a:xfrm>
          <a:prstGeom prst="roundRect">
            <a:avLst>
              <a:gd name="adj" fmla="val 4391"/>
            </a:avLst>
          </a:prstGeom>
          <a:solidFill>
            <a:srgbClr val="14213D"/>
          </a:solidFill>
          <a:ln/>
        </p:spPr>
      </p:sp>
      <p:sp>
        <p:nvSpPr>
          <p:cNvPr id="13" name="Text 11"/>
          <p:cNvSpPr/>
          <p:nvPr/>
        </p:nvSpPr>
        <p:spPr>
          <a:xfrm>
            <a:off x="8210947" y="2080261"/>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6B"/>
                </a:solidFill>
                <a:latin typeface="IBM Plex Sans" pitchFamily="34" charset="0"/>
                <a:ea typeface="IBM Plex Sans" pitchFamily="34" charset="-122"/>
                <a:cs typeface="IBM Plex Sans" pitchFamily="34" charset="-120"/>
              </a:rPr>
              <a:t>Result</a:t>
            </a:r>
            <a:endParaRPr lang="en-US" sz="1500" dirty="0"/>
          </a:p>
        </p:txBody>
      </p:sp>
      <p:sp>
        <p:nvSpPr>
          <p:cNvPr id="14" name="Text 12"/>
          <p:cNvSpPr/>
          <p:nvPr/>
        </p:nvSpPr>
        <p:spPr>
          <a:xfrm>
            <a:off x="8210947" y="2397761"/>
            <a:ext cx="302784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6F4EE"/>
                </a:solidFill>
                <a:latin typeface="Source Serif 4" pitchFamily="18" charset="0"/>
                <a:ea typeface="Source Serif 4" pitchFamily="18" charset="-122"/>
                <a:cs typeface="Source Serif 4" pitchFamily="18" charset="-120"/>
              </a:rPr>
              <a:t>334</a:t>
            </a:r>
            <a:endParaRPr lang="en-US" sz="3600" dirty="0"/>
          </a:p>
        </p:txBody>
      </p:sp>
      <p:sp>
        <p:nvSpPr>
          <p:cNvPr id="15" name="Text 13"/>
          <p:cNvSpPr/>
          <p:nvPr/>
        </p:nvSpPr>
        <p:spPr>
          <a:xfrm>
            <a:off x="8210947" y="2943861"/>
            <a:ext cx="3027843"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non-test renames</a:t>
            </a:r>
            <a:endParaRPr lang="en-US" sz="1350" dirty="0"/>
          </a:p>
        </p:txBody>
      </p:sp>
      <p:sp>
        <p:nvSpPr>
          <p:cNvPr id="16" name="Text 14"/>
          <p:cNvSpPr/>
          <p:nvPr/>
        </p:nvSpPr>
        <p:spPr>
          <a:xfrm>
            <a:off x="8210947" y="3272789"/>
            <a:ext cx="3027843"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183 confident (2 doubtful ones removed) · 149 unsure, sent to review</a:t>
            </a:r>
            <a:endParaRPr lang="en-US" sz="135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Script: Make_Review_Sheet.py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STEP 5 OF 9 · REVIEW</a:t>
            </a:r>
            <a:endParaRPr lang="en-US" sz="1200" dirty="0"/>
          </a:p>
        </p:txBody>
      </p:sp>
      <p:sp>
        <p:nvSpPr>
          <p:cNvPr id="3" name="Text 1"/>
          <p:cNvSpPr/>
          <p:nvPr>
            <p:ph type="title"/>
          </p:nvPr>
        </p:nvSpPr>
        <p:spPr>
          <a:xfrm>
            <a:off x="812800" y="1127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Reviewed every unsure case</a:t>
            </a:r>
            <a:endParaRPr lang="en-US" sz="3000" dirty="0"/>
          </a:p>
        </p:txBody>
      </p:sp>
      <p:sp>
        <p:nvSpPr>
          <p:cNvPr id="4" name="Shape 2"/>
          <p:cNvSpPr/>
          <p:nvPr/>
        </p:nvSpPr>
        <p:spPr>
          <a:xfrm>
            <a:off x="815975" y="1854839"/>
            <a:ext cx="3400584" cy="2307590"/>
          </a:xfrm>
          <a:prstGeom prst="roundRect">
            <a:avLst>
              <a:gd name="adj" fmla="val 4265"/>
            </a:avLst>
          </a:prstGeom>
          <a:solidFill>
            <a:srgbClr val="FFFDF8"/>
          </a:solidFill>
          <a:ln w="6350">
            <a:solidFill>
              <a:srgbClr val="DDD7C8"/>
            </a:solidFill>
            <a:prstDash val="solid"/>
          </a:ln>
        </p:spPr>
      </p:sp>
      <p:sp>
        <p:nvSpPr>
          <p:cNvPr id="5" name="Text 3"/>
          <p:cNvSpPr/>
          <p:nvPr/>
        </p:nvSpPr>
        <p:spPr>
          <a:xfrm>
            <a:off x="1046480" y="2085342"/>
            <a:ext cx="30277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5501A"/>
                </a:solidFill>
                <a:latin typeface="IBM Plex Sans" pitchFamily="34" charset="0"/>
                <a:ea typeface="IBM Plex Sans" pitchFamily="34" charset="-122"/>
                <a:cs typeface="IBM Plex Sans" pitchFamily="34" charset="-120"/>
              </a:rPr>
              <a:t>What we did</a:t>
            </a:r>
            <a:endParaRPr lang="en-US" sz="1500" dirty="0"/>
          </a:p>
        </p:txBody>
      </p:sp>
      <p:sp>
        <p:nvSpPr>
          <p:cNvPr id="6" name="Text 4"/>
          <p:cNvSpPr/>
          <p:nvPr/>
        </p:nvSpPr>
        <p:spPr>
          <a:xfrm>
            <a:off x="1046480" y="2402842"/>
            <a:ext cx="3027761"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Built </a:t>
            </a:r>
            <a:r>
              <a:rPr lang="en-US" sz="1350" b="1" dirty="0">
                <a:solidFill>
                  <a:srgbClr val="3E4A5C"/>
                </a:solidFill>
                <a:latin typeface="IBM Plex Sans" pitchFamily="34" charset="0"/>
                <a:ea typeface="IBM Plex Sans" pitchFamily="34" charset="-122"/>
                <a:cs typeface="IBM Plex Sans" pitchFamily="34" charset="-120"/>
              </a:rPr>
              <a:t>review_sheet.xlsx</a:t>
            </a:r>
            <a:r>
              <a:rPr lang="en-US" sz="1350" dirty="0">
                <a:solidFill>
                  <a:srgbClr val="3E4A5C"/>
                </a:solidFill>
                <a:latin typeface="IBM Plex Sans" pitchFamily="34" charset="0"/>
                <a:ea typeface="IBM Plex Sans" pitchFamily="34" charset="-122"/>
                <a:cs typeface="IBM Plex Sans" pitchFamily="34" charset="-120"/>
              </a:rPr>
              <a:t> with old and new code side by side, then marked each row Y or N.</a:t>
            </a:r>
            <a:endParaRPr lang="en-US" sz="1350" dirty="0"/>
          </a:p>
        </p:txBody>
      </p:sp>
      <p:sp>
        <p:nvSpPr>
          <p:cNvPr id="7" name="Text 5"/>
          <p:cNvSpPr/>
          <p:nvPr/>
        </p:nvSpPr>
        <p:spPr>
          <a:xfrm>
            <a:off x="1046480" y="3211829"/>
            <a:ext cx="3027761"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Rule: </a:t>
            </a:r>
            <a:r>
              <a:rPr lang="en-US" sz="1350" i="1" dirty="0">
                <a:solidFill>
                  <a:srgbClr val="3E4A5C"/>
                </a:solidFill>
                <a:latin typeface="IBM Plex Sans" pitchFamily="34" charset="0"/>
                <a:ea typeface="IBM Plex Sans" pitchFamily="34" charset="-122"/>
                <a:cs typeface="IBM Plex Sans" pitchFamily="34" charset="-120"/>
              </a:rPr>
              <a:t>a rename keeps the same job</a:t>
            </a:r>
            <a:r>
              <a:rPr lang="en-US" sz="1350" dirty="0">
                <a:solidFill>
                  <a:srgbClr val="3E4A5C"/>
                </a:solidFill>
                <a:latin typeface="IBM Plex Sans" pitchFamily="34" charset="0"/>
                <a:ea typeface="IBM Plex Sans" pitchFamily="34" charset="-122"/>
                <a:cs typeface="IBM Plex Sans" pitchFamily="34" charset="-120"/>
              </a:rPr>
              <a:t>.</a:t>
            </a:r>
            <a:endParaRPr lang="en-US" sz="1350" dirty="0"/>
          </a:p>
        </p:txBody>
      </p:sp>
      <p:sp>
        <p:nvSpPr>
          <p:cNvPr id="8" name="Shape 6"/>
          <p:cNvSpPr/>
          <p:nvPr/>
        </p:nvSpPr>
        <p:spPr>
          <a:xfrm>
            <a:off x="4400709" y="1854839"/>
            <a:ext cx="3400663" cy="2307590"/>
          </a:xfrm>
          <a:prstGeom prst="roundRect">
            <a:avLst>
              <a:gd name="adj" fmla="val 4265"/>
            </a:avLst>
          </a:prstGeom>
          <a:solidFill>
            <a:srgbClr val="FFFDF8"/>
          </a:solidFill>
          <a:ln w="6350">
            <a:solidFill>
              <a:srgbClr val="DDD7C8"/>
            </a:solidFill>
            <a:prstDash val="solid"/>
          </a:ln>
        </p:spPr>
      </p:sp>
      <p:sp>
        <p:nvSpPr>
          <p:cNvPr id="9" name="Text 7"/>
          <p:cNvSpPr/>
          <p:nvPr/>
        </p:nvSpPr>
        <p:spPr>
          <a:xfrm>
            <a:off x="4631214" y="2085342"/>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8A"/>
                </a:solidFill>
                <a:latin typeface="IBM Plex Sans" pitchFamily="34" charset="0"/>
                <a:ea typeface="IBM Plex Sans" pitchFamily="34" charset="-122"/>
                <a:cs typeface="IBM Plex Sans" pitchFamily="34" charset="-120"/>
              </a:rPr>
              <a:t>Why</a:t>
            </a:r>
            <a:endParaRPr lang="en-US" sz="1500" dirty="0"/>
          </a:p>
        </p:txBody>
      </p:sp>
      <p:sp>
        <p:nvSpPr>
          <p:cNvPr id="10" name="Text 8"/>
          <p:cNvSpPr/>
          <p:nvPr/>
        </p:nvSpPr>
        <p:spPr>
          <a:xfrm>
            <a:off x="4631214" y="2402842"/>
            <a:ext cx="3027843"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Wrong labels teach the model wrong patterns.</a:t>
            </a:r>
            <a:endParaRPr lang="en-US" sz="1350" dirty="0"/>
          </a:p>
        </p:txBody>
      </p:sp>
      <p:sp>
        <p:nvSpPr>
          <p:cNvPr id="11" name="Text 9"/>
          <p:cNvSpPr/>
          <p:nvPr/>
        </p:nvSpPr>
        <p:spPr>
          <a:xfrm>
            <a:off x="4631214" y="2971800"/>
            <a:ext cx="3027843" cy="9855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Examples: </a:t>
            </a:r>
            <a:r>
              <a:rPr lang="en-US" sz="1350" b="1" dirty="0">
                <a:solidFill>
                  <a:srgbClr val="3E4A5C"/>
                </a:solidFill>
                <a:latin typeface="IBM Plex Sans" pitchFamily="34" charset="0"/>
                <a:ea typeface="IBM Plex Sans" pitchFamily="34" charset="-122"/>
                <a:cs typeface="IBM Plex Sans" pitchFamily="34" charset="-120"/>
              </a:rPr>
              <a:t>download_url → download_urls</a:t>
            </a:r>
            <a:r>
              <a:rPr lang="en-US" sz="1350" dirty="0">
                <a:solidFill>
                  <a:srgbClr val="3E4A5C"/>
                </a:solidFill>
                <a:latin typeface="IBM Plex Sans" pitchFamily="34" charset="0"/>
                <a:ea typeface="IBM Plex Sans" pitchFamily="34" charset="-122"/>
                <a:cs typeface="IBM Plex Sans" pitchFamily="34" charset="-120"/>
              </a:rPr>
              <a:t> = Y; </a:t>
            </a:r>
            <a:r>
              <a:rPr lang="en-US" sz="1350" b="1" dirty="0">
                <a:solidFill>
                  <a:srgbClr val="3E4A5C"/>
                </a:solidFill>
                <a:latin typeface="IBM Plex Sans" pitchFamily="34" charset="0"/>
                <a:ea typeface="IBM Plex Sans" pitchFamily="34" charset="-122"/>
                <a:cs typeface="IBM Plex Sans" pitchFamily="34" charset="-120"/>
              </a:rPr>
              <a:t>user_store → sets_store</a:t>
            </a:r>
            <a:r>
              <a:rPr lang="en-US" sz="1350" dirty="0">
                <a:solidFill>
                  <a:srgbClr val="3E4A5C"/>
                </a:solidFill>
                <a:latin typeface="IBM Plex Sans" pitchFamily="34" charset="0"/>
                <a:ea typeface="IBM Plex Sans" pitchFamily="34" charset="-122"/>
                <a:cs typeface="IBM Plex Sans" pitchFamily="34" charset="-120"/>
              </a:rPr>
              <a:t> = N (two different methods).</a:t>
            </a:r>
            <a:endParaRPr lang="en-US" sz="1350" dirty="0"/>
          </a:p>
        </p:txBody>
      </p:sp>
      <p:sp>
        <p:nvSpPr>
          <p:cNvPr id="12" name="Shape 10"/>
          <p:cNvSpPr/>
          <p:nvPr/>
        </p:nvSpPr>
        <p:spPr>
          <a:xfrm>
            <a:off x="7982347" y="1851664"/>
            <a:ext cx="3396853" cy="2313940"/>
          </a:xfrm>
          <a:prstGeom prst="roundRect">
            <a:avLst>
              <a:gd name="adj" fmla="val 4391"/>
            </a:avLst>
          </a:prstGeom>
          <a:solidFill>
            <a:srgbClr val="14213D"/>
          </a:solidFill>
          <a:ln/>
        </p:spPr>
      </p:sp>
      <p:sp>
        <p:nvSpPr>
          <p:cNvPr id="13" name="Text 11"/>
          <p:cNvSpPr/>
          <p:nvPr/>
        </p:nvSpPr>
        <p:spPr>
          <a:xfrm>
            <a:off x="8210947" y="2080264"/>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6B"/>
                </a:solidFill>
                <a:latin typeface="IBM Plex Sans" pitchFamily="34" charset="0"/>
                <a:ea typeface="IBM Plex Sans" pitchFamily="34" charset="-122"/>
                <a:cs typeface="IBM Plex Sans" pitchFamily="34" charset="-120"/>
              </a:rPr>
              <a:t>Result</a:t>
            </a:r>
            <a:endParaRPr lang="en-US" sz="1500" dirty="0"/>
          </a:p>
        </p:txBody>
      </p:sp>
      <p:sp>
        <p:nvSpPr>
          <p:cNvPr id="14" name="Text 12"/>
          <p:cNvSpPr/>
          <p:nvPr/>
        </p:nvSpPr>
        <p:spPr>
          <a:xfrm>
            <a:off x="8210947" y="2397764"/>
            <a:ext cx="302784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6F4EE"/>
                </a:solidFill>
                <a:latin typeface="Source Serif 4" pitchFamily="18" charset="0"/>
                <a:ea typeface="Source Serif 4" pitchFamily="18" charset="-122"/>
                <a:cs typeface="Source Serif 4" pitchFamily="18" charset="-120"/>
              </a:rPr>
              <a:t>118 / 31</a:t>
            </a:r>
            <a:endParaRPr lang="en-US" sz="3600" dirty="0"/>
          </a:p>
        </p:txBody>
      </p:sp>
      <p:sp>
        <p:nvSpPr>
          <p:cNvPr id="15" name="Text 13"/>
          <p:cNvSpPr/>
          <p:nvPr/>
        </p:nvSpPr>
        <p:spPr>
          <a:xfrm>
            <a:off x="8210947" y="2943864"/>
            <a:ext cx="3027843"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kept (Y) / removed (N) out of 149</a:t>
            </a:r>
            <a:endParaRPr lang="en-US" sz="1350" dirty="0"/>
          </a:p>
        </p:txBody>
      </p:sp>
      <p:sp>
        <p:nvSpPr>
          <p:cNvPr id="16" name="Text 14"/>
          <p:cNvSpPr/>
          <p:nvPr/>
        </p:nvSpPr>
        <p:spPr>
          <a:xfrm>
            <a:off x="8210947" y="3272792"/>
            <a:ext cx="3027843"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AI-assisted first pass; team re-check planned</a:t>
            </a:r>
            <a:endParaRPr lang="en-US" sz="135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Output: review_sheet_done.xlsx</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STEP 6 OF 9 · FINAL LABELS</a:t>
            </a:r>
            <a:endParaRPr lang="en-US" sz="1200" dirty="0"/>
          </a:p>
        </p:txBody>
      </p:sp>
      <p:sp>
        <p:nvSpPr>
          <p:cNvPr id="3" name="Text 1"/>
          <p:cNvSpPr/>
          <p:nvPr>
            <p:ph type="title"/>
          </p:nvPr>
        </p:nvSpPr>
        <p:spPr>
          <a:xfrm>
            <a:off x="812800" y="1127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Merged the labels and capped bulk commits</a:t>
            </a:r>
            <a:endParaRPr lang="en-US" sz="3000" dirty="0"/>
          </a:p>
        </p:txBody>
      </p:sp>
      <p:sp>
        <p:nvSpPr>
          <p:cNvPr id="4" name="Shape 2"/>
          <p:cNvSpPr/>
          <p:nvPr/>
        </p:nvSpPr>
        <p:spPr>
          <a:xfrm>
            <a:off x="815975" y="1854839"/>
            <a:ext cx="3400584" cy="2307590"/>
          </a:xfrm>
          <a:prstGeom prst="roundRect">
            <a:avLst>
              <a:gd name="adj" fmla="val 4265"/>
            </a:avLst>
          </a:prstGeom>
          <a:solidFill>
            <a:srgbClr val="FFFDF8"/>
          </a:solidFill>
          <a:ln w="6350">
            <a:solidFill>
              <a:srgbClr val="DDD7C8"/>
            </a:solidFill>
            <a:prstDash val="solid"/>
          </a:ln>
        </p:spPr>
      </p:sp>
      <p:sp>
        <p:nvSpPr>
          <p:cNvPr id="5" name="Text 3"/>
          <p:cNvSpPr/>
          <p:nvPr/>
        </p:nvSpPr>
        <p:spPr>
          <a:xfrm>
            <a:off x="1046480" y="2085342"/>
            <a:ext cx="30277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5501A"/>
                </a:solidFill>
                <a:latin typeface="IBM Plex Sans" pitchFamily="34" charset="0"/>
                <a:ea typeface="IBM Plex Sans" pitchFamily="34" charset="-122"/>
                <a:cs typeface="IBM Plex Sans" pitchFamily="34" charset="-120"/>
              </a:rPr>
              <a:t>What we did</a:t>
            </a:r>
            <a:endParaRPr lang="en-US" sz="1500" dirty="0"/>
          </a:p>
        </p:txBody>
      </p:sp>
      <p:sp>
        <p:nvSpPr>
          <p:cNvPr id="6" name="Text 4"/>
          <p:cNvSpPr/>
          <p:nvPr/>
        </p:nvSpPr>
        <p:spPr>
          <a:xfrm>
            <a:off x="1046480" y="2402842"/>
            <a:ext cx="3027761"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Merged 183 confident + 118 reviewed = 301 renames.</a:t>
            </a:r>
            <a:endParaRPr lang="en-US" sz="1350" dirty="0"/>
          </a:p>
        </p:txBody>
      </p:sp>
      <p:sp>
        <p:nvSpPr>
          <p:cNvPr id="7" name="Text 5"/>
          <p:cNvSpPr/>
          <p:nvPr/>
        </p:nvSpPr>
        <p:spPr>
          <a:xfrm>
            <a:off x="1046480" y="2971800"/>
            <a:ext cx="3166904"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Kept at most </a:t>
            </a:r>
            <a:r>
              <a:rPr lang="en-US" sz="1350" b="1" dirty="0">
                <a:solidFill>
                  <a:srgbClr val="3E4A5C"/>
                </a:solidFill>
                <a:latin typeface="IBM Plex Sans" pitchFamily="34" charset="0"/>
                <a:ea typeface="IBM Plex Sans" pitchFamily="34" charset="-122"/>
                <a:cs typeface="IBM Plex Sans" pitchFamily="34" charset="-120"/>
              </a:rPr>
              <a:t>5 renames per commit</a:t>
            </a:r>
            <a:r>
              <a:rPr lang="en-US" sz="1350" dirty="0">
                <a:solidFill>
                  <a:srgbClr val="3E4A5C"/>
                </a:solidFill>
                <a:latin typeface="IBM Plex Sans" pitchFamily="34" charset="0"/>
                <a:ea typeface="IBM Plex Sans" pitchFamily="34" charset="-122"/>
                <a:cs typeface="IBM Plex Sans" pitchFamily="34" charset="-120"/>
              </a:rPr>
              <a:t>.</a:t>
            </a:r>
            <a:endParaRPr lang="en-US" sz="1350" dirty="0"/>
          </a:p>
        </p:txBody>
      </p:sp>
      <p:sp>
        <p:nvSpPr>
          <p:cNvPr id="8" name="Shape 6"/>
          <p:cNvSpPr/>
          <p:nvPr/>
        </p:nvSpPr>
        <p:spPr>
          <a:xfrm>
            <a:off x="4400709" y="1854839"/>
            <a:ext cx="3400663" cy="2307590"/>
          </a:xfrm>
          <a:prstGeom prst="roundRect">
            <a:avLst>
              <a:gd name="adj" fmla="val 4265"/>
            </a:avLst>
          </a:prstGeom>
          <a:solidFill>
            <a:srgbClr val="FFFDF8"/>
          </a:solidFill>
          <a:ln w="6350">
            <a:solidFill>
              <a:srgbClr val="DDD7C8"/>
            </a:solidFill>
            <a:prstDash val="solid"/>
          </a:ln>
        </p:spPr>
      </p:sp>
      <p:sp>
        <p:nvSpPr>
          <p:cNvPr id="9" name="Text 7"/>
          <p:cNvSpPr/>
          <p:nvPr/>
        </p:nvSpPr>
        <p:spPr>
          <a:xfrm>
            <a:off x="4631214" y="2085342"/>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8A"/>
                </a:solidFill>
                <a:latin typeface="IBM Plex Sans" pitchFamily="34" charset="0"/>
                <a:ea typeface="IBM Plex Sans" pitchFamily="34" charset="-122"/>
                <a:cs typeface="IBM Plex Sans" pitchFamily="34" charset="-120"/>
              </a:rPr>
              <a:t>Why</a:t>
            </a:r>
            <a:endParaRPr lang="en-US" sz="1500" dirty="0"/>
          </a:p>
        </p:txBody>
      </p:sp>
      <p:sp>
        <p:nvSpPr>
          <p:cNvPr id="10" name="Text 8"/>
          <p:cNvSpPr/>
          <p:nvPr/>
        </p:nvSpPr>
        <p:spPr>
          <a:xfrm>
            <a:off x="4631214" y="2402842"/>
            <a:ext cx="3027843"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One commit renamed 48 methods at once (a host_ prefix added everywhere).</a:t>
            </a:r>
            <a:endParaRPr lang="en-US" sz="1350" dirty="0"/>
          </a:p>
        </p:txBody>
      </p:sp>
      <p:sp>
        <p:nvSpPr>
          <p:cNvPr id="11" name="Text 9"/>
          <p:cNvSpPr/>
          <p:nvPr/>
        </p:nvSpPr>
        <p:spPr>
          <a:xfrm>
            <a:off x="4631214" y="3211829"/>
            <a:ext cx="3027843"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Without a cap, that single commit would dominate what the model learns.</a:t>
            </a:r>
            <a:endParaRPr lang="en-US" sz="1350" dirty="0"/>
          </a:p>
        </p:txBody>
      </p:sp>
      <p:sp>
        <p:nvSpPr>
          <p:cNvPr id="12" name="Shape 10"/>
          <p:cNvSpPr/>
          <p:nvPr/>
        </p:nvSpPr>
        <p:spPr>
          <a:xfrm>
            <a:off x="7982347" y="1851664"/>
            <a:ext cx="3396853" cy="2313940"/>
          </a:xfrm>
          <a:prstGeom prst="roundRect">
            <a:avLst>
              <a:gd name="adj" fmla="val 4391"/>
            </a:avLst>
          </a:prstGeom>
          <a:solidFill>
            <a:srgbClr val="14213D"/>
          </a:solidFill>
          <a:ln/>
        </p:spPr>
      </p:sp>
      <p:sp>
        <p:nvSpPr>
          <p:cNvPr id="13" name="Text 11"/>
          <p:cNvSpPr/>
          <p:nvPr/>
        </p:nvSpPr>
        <p:spPr>
          <a:xfrm>
            <a:off x="8210947" y="2080264"/>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6B"/>
                </a:solidFill>
                <a:latin typeface="IBM Plex Sans" pitchFamily="34" charset="0"/>
                <a:ea typeface="IBM Plex Sans" pitchFamily="34" charset="-122"/>
                <a:cs typeface="IBM Plex Sans" pitchFamily="34" charset="-120"/>
              </a:rPr>
              <a:t>Result</a:t>
            </a:r>
            <a:endParaRPr lang="en-US" sz="1500" dirty="0"/>
          </a:p>
        </p:txBody>
      </p:sp>
      <p:sp>
        <p:nvSpPr>
          <p:cNvPr id="14" name="Text 12"/>
          <p:cNvSpPr/>
          <p:nvPr/>
        </p:nvSpPr>
        <p:spPr>
          <a:xfrm>
            <a:off x="8210947" y="2397764"/>
            <a:ext cx="302784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6F4EE"/>
                </a:solidFill>
                <a:latin typeface="Source Serif 4" pitchFamily="18" charset="0"/>
                <a:ea typeface="Source Serif 4" pitchFamily="18" charset="-122"/>
                <a:cs typeface="Source Serif 4" pitchFamily="18" charset="-120"/>
              </a:rPr>
              <a:t>243</a:t>
            </a:r>
            <a:endParaRPr lang="en-US" sz="3600" dirty="0"/>
          </a:p>
        </p:txBody>
      </p:sp>
      <p:sp>
        <p:nvSpPr>
          <p:cNvPr id="15" name="Text 13"/>
          <p:cNvSpPr/>
          <p:nvPr/>
        </p:nvSpPr>
        <p:spPr>
          <a:xfrm>
            <a:off x="8210947" y="2943864"/>
            <a:ext cx="3168253"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renamed methods from 145 commits</a:t>
            </a:r>
            <a:endParaRPr lang="en-US" sz="1350" dirty="0"/>
          </a:p>
        </p:txBody>
      </p:sp>
      <p:sp>
        <p:nvSpPr>
          <p:cNvPr id="16" name="Text 14"/>
          <p:cNvSpPr/>
          <p:nvPr/>
        </p:nvSpPr>
        <p:spPr>
          <a:xfrm>
            <a:off x="8210947" y="3272792"/>
            <a:ext cx="3027843"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Saved as train_positives.csv</a:t>
            </a:r>
            <a:endParaRPr lang="en-US" sz="135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Script: Build_Train_Labels.py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STEP 7 OF 9 · NEGATIVES</a:t>
            </a:r>
            <a:endParaRPr lang="en-US" sz="1200" dirty="0"/>
          </a:p>
        </p:txBody>
      </p:sp>
      <p:sp>
        <p:nvSpPr>
          <p:cNvPr id="3" name="Text 1"/>
          <p:cNvSpPr/>
          <p:nvPr>
            <p:ph type="title"/>
          </p:nvPr>
        </p:nvSpPr>
        <p:spPr>
          <a:xfrm>
            <a:off x="812800" y="1127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Collected methods that were not renamed</a:t>
            </a:r>
            <a:endParaRPr lang="en-US" sz="3000" dirty="0"/>
          </a:p>
        </p:txBody>
      </p:sp>
      <p:sp>
        <p:nvSpPr>
          <p:cNvPr id="4" name="Shape 2"/>
          <p:cNvSpPr/>
          <p:nvPr/>
        </p:nvSpPr>
        <p:spPr>
          <a:xfrm>
            <a:off x="815975" y="1854839"/>
            <a:ext cx="3400584" cy="2669540"/>
          </a:xfrm>
          <a:prstGeom prst="roundRect">
            <a:avLst>
              <a:gd name="adj" fmla="val 3687"/>
            </a:avLst>
          </a:prstGeom>
          <a:solidFill>
            <a:srgbClr val="FFFDF8"/>
          </a:solidFill>
          <a:ln w="6350">
            <a:solidFill>
              <a:srgbClr val="DDD7C8"/>
            </a:solidFill>
            <a:prstDash val="solid"/>
          </a:ln>
        </p:spPr>
      </p:sp>
      <p:sp>
        <p:nvSpPr>
          <p:cNvPr id="5" name="Text 3"/>
          <p:cNvSpPr/>
          <p:nvPr/>
        </p:nvSpPr>
        <p:spPr>
          <a:xfrm>
            <a:off x="1046480" y="2085342"/>
            <a:ext cx="30277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5501A"/>
                </a:solidFill>
                <a:latin typeface="IBM Plex Sans" pitchFamily="34" charset="0"/>
                <a:ea typeface="IBM Plex Sans" pitchFamily="34" charset="-122"/>
                <a:cs typeface="IBM Plex Sans" pitchFamily="34" charset="-120"/>
              </a:rPr>
              <a:t>What we did</a:t>
            </a:r>
            <a:endParaRPr lang="en-US" sz="1500" dirty="0"/>
          </a:p>
        </p:txBody>
      </p:sp>
      <p:sp>
        <p:nvSpPr>
          <p:cNvPr id="6" name="Text 4"/>
          <p:cNvSpPr/>
          <p:nvPr/>
        </p:nvSpPr>
        <p:spPr>
          <a:xfrm>
            <a:off x="1046480" y="2402842"/>
            <a:ext cx="3027761"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Took methods from the Before files that still exist, with the same name, in the After file.</a:t>
            </a:r>
            <a:endParaRPr lang="en-US" sz="1350" dirty="0"/>
          </a:p>
        </p:txBody>
      </p:sp>
      <p:sp>
        <p:nvSpPr>
          <p:cNvPr id="7" name="Text 5"/>
          <p:cNvSpPr/>
          <p:nvPr/>
        </p:nvSpPr>
        <p:spPr>
          <a:xfrm>
            <a:off x="1046480" y="3211829"/>
            <a:ext cx="3027761"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Skipped methods that vanished but are not labelled renames (fate unknown).</a:t>
            </a:r>
            <a:endParaRPr lang="en-US" sz="1350" dirty="0"/>
          </a:p>
        </p:txBody>
      </p:sp>
      <p:sp>
        <p:nvSpPr>
          <p:cNvPr id="8" name="Shape 6"/>
          <p:cNvSpPr/>
          <p:nvPr/>
        </p:nvSpPr>
        <p:spPr>
          <a:xfrm>
            <a:off x="4400709" y="1854839"/>
            <a:ext cx="3400663" cy="2669540"/>
          </a:xfrm>
          <a:prstGeom prst="roundRect">
            <a:avLst>
              <a:gd name="adj" fmla="val 3687"/>
            </a:avLst>
          </a:prstGeom>
          <a:solidFill>
            <a:srgbClr val="FFFDF8"/>
          </a:solidFill>
          <a:ln w="6350">
            <a:solidFill>
              <a:srgbClr val="DDD7C8"/>
            </a:solidFill>
            <a:prstDash val="solid"/>
          </a:ln>
        </p:spPr>
      </p:sp>
      <p:sp>
        <p:nvSpPr>
          <p:cNvPr id="9" name="Text 7"/>
          <p:cNvSpPr/>
          <p:nvPr/>
        </p:nvSpPr>
        <p:spPr>
          <a:xfrm>
            <a:off x="4631214" y="2085342"/>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8A"/>
                </a:solidFill>
                <a:latin typeface="IBM Plex Sans" pitchFamily="34" charset="0"/>
                <a:ea typeface="IBM Plex Sans" pitchFamily="34" charset="-122"/>
                <a:cs typeface="IBM Plex Sans" pitchFamily="34" charset="-120"/>
              </a:rPr>
              <a:t>Why</a:t>
            </a:r>
            <a:endParaRPr lang="en-US" sz="1500" dirty="0"/>
          </a:p>
        </p:txBody>
      </p:sp>
      <p:sp>
        <p:nvSpPr>
          <p:cNvPr id="10" name="Text 8"/>
          <p:cNvSpPr/>
          <p:nvPr/>
        </p:nvSpPr>
        <p:spPr>
          <a:xfrm>
            <a:off x="4631214" y="2402842"/>
            <a:ext cx="3027843"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To learn what “renamed” looks like, the model must also see what “not renamed” looks like.</a:t>
            </a:r>
            <a:endParaRPr lang="en-US" sz="1350" dirty="0"/>
          </a:p>
        </p:txBody>
      </p:sp>
      <p:sp>
        <p:nvSpPr>
          <p:cNvPr id="11" name="Shape 9"/>
          <p:cNvSpPr/>
          <p:nvPr/>
        </p:nvSpPr>
        <p:spPr>
          <a:xfrm>
            <a:off x="7982347" y="1851664"/>
            <a:ext cx="3396853" cy="2675890"/>
          </a:xfrm>
          <a:prstGeom prst="roundRect">
            <a:avLst>
              <a:gd name="adj" fmla="val 3797"/>
            </a:avLst>
          </a:prstGeom>
          <a:solidFill>
            <a:srgbClr val="14213D"/>
          </a:solidFill>
          <a:ln/>
        </p:spPr>
      </p:sp>
      <p:sp>
        <p:nvSpPr>
          <p:cNvPr id="12" name="Text 10"/>
          <p:cNvSpPr/>
          <p:nvPr/>
        </p:nvSpPr>
        <p:spPr>
          <a:xfrm>
            <a:off x="8210947" y="2080264"/>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6B"/>
                </a:solidFill>
                <a:latin typeface="IBM Plex Sans" pitchFamily="34" charset="0"/>
                <a:ea typeface="IBM Plex Sans" pitchFamily="34" charset="-122"/>
                <a:cs typeface="IBM Plex Sans" pitchFamily="34" charset="-120"/>
              </a:rPr>
              <a:t>Result</a:t>
            </a:r>
            <a:endParaRPr lang="en-US" sz="1500" dirty="0"/>
          </a:p>
        </p:txBody>
      </p:sp>
      <p:sp>
        <p:nvSpPr>
          <p:cNvPr id="13" name="Text 11"/>
          <p:cNvSpPr/>
          <p:nvPr/>
        </p:nvSpPr>
        <p:spPr>
          <a:xfrm>
            <a:off x="8210947" y="2397764"/>
            <a:ext cx="302784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6F4EE"/>
                </a:solidFill>
                <a:latin typeface="Source Serif 4" pitchFamily="18" charset="0"/>
                <a:ea typeface="Source Serif 4" pitchFamily="18" charset="-122"/>
                <a:cs typeface="Source Serif 4" pitchFamily="18" charset="-120"/>
              </a:rPr>
              <a:t>1,915</a:t>
            </a:r>
            <a:endParaRPr lang="en-US" sz="3600" dirty="0"/>
          </a:p>
        </p:txBody>
      </p:sp>
      <p:sp>
        <p:nvSpPr>
          <p:cNvPr id="14" name="Text 12"/>
          <p:cNvSpPr/>
          <p:nvPr/>
        </p:nvSpPr>
        <p:spPr>
          <a:xfrm>
            <a:off x="8210947" y="2943864"/>
            <a:ext cx="3027843"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negatives in version 1 (same files as a rename)</a:t>
            </a:r>
            <a:endParaRPr lang="en-US" sz="1350" dirty="0"/>
          </a:p>
        </p:txBody>
      </p:sp>
      <p:sp>
        <p:nvSpPr>
          <p:cNvPr id="15" name="Text 13"/>
          <p:cNvSpPr/>
          <p:nvPr/>
        </p:nvSpPr>
        <p:spPr>
          <a:xfrm>
            <a:off x="8210947" y="3512821"/>
            <a:ext cx="302784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6F4EE"/>
                </a:solidFill>
                <a:latin typeface="Source Serif 4" pitchFamily="18" charset="0"/>
                <a:ea typeface="Source Serif 4" pitchFamily="18" charset="-122"/>
                <a:cs typeface="Source Serif 4" pitchFamily="18" charset="-120"/>
              </a:rPr>
              <a:t>30,974</a:t>
            </a:r>
            <a:endParaRPr lang="en-US" sz="3600" dirty="0"/>
          </a:p>
        </p:txBody>
      </p:sp>
      <p:sp>
        <p:nvSpPr>
          <p:cNvPr id="16" name="Text 14"/>
          <p:cNvSpPr/>
          <p:nvPr/>
        </p:nvSpPr>
        <p:spPr>
          <a:xfrm>
            <a:off x="8210947" y="4058921"/>
            <a:ext cx="3027843"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negatives in version 2 (all commits)</a:t>
            </a:r>
            <a:endParaRPr lang="en-US" sz="135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Scripts: Build_Dataset.py (v1) · Build_Dataset_v2.py (v2)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STEP 8 OF 9 · FEATURES</a:t>
            </a:r>
            <a:endParaRPr lang="en-US" sz="1200" dirty="0"/>
          </a:p>
        </p:txBody>
      </p:sp>
      <p:sp>
        <p:nvSpPr>
          <p:cNvPr id="3" name="Text 1"/>
          <p:cNvSpPr/>
          <p:nvPr>
            <p:ph type="title"/>
          </p:nvPr>
        </p:nvSpPr>
        <p:spPr>
          <a:xfrm>
            <a:off x="812800" y="1127764"/>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Four groups of clues, all from the code before the commit</a:t>
            </a:r>
            <a:endParaRPr lang="en-US" sz="3200" dirty="0"/>
          </a:p>
        </p:txBody>
      </p:sp>
      <p:sp>
        <p:nvSpPr>
          <p:cNvPr id="4" name="Shape 2"/>
          <p:cNvSpPr/>
          <p:nvPr/>
        </p:nvSpPr>
        <p:spPr>
          <a:xfrm>
            <a:off x="815975" y="2380617"/>
            <a:ext cx="5187950" cy="1243330"/>
          </a:xfrm>
          <a:prstGeom prst="roundRect">
            <a:avLst>
              <a:gd name="adj" fmla="val 7916"/>
            </a:avLst>
          </a:prstGeom>
          <a:solidFill>
            <a:srgbClr val="FFFDF8"/>
          </a:solidFill>
          <a:ln w="6350">
            <a:solidFill>
              <a:srgbClr val="DDD7C8"/>
            </a:solidFill>
            <a:prstDash val="solid"/>
          </a:ln>
        </p:spPr>
      </p:sp>
      <p:sp>
        <p:nvSpPr>
          <p:cNvPr id="5" name="Text 3"/>
          <p:cNvSpPr/>
          <p:nvPr/>
        </p:nvSpPr>
        <p:spPr>
          <a:xfrm>
            <a:off x="1046480" y="2611121"/>
            <a:ext cx="48687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Name </a:t>
            </a:r>
            <a:r>
              <a:rPr lang="en-US" sz="1600" b="1" dirty="0">
                <a:solidFill>
                  <a:srgbClr val="B5501A"/>
                </a:solidFill>
                <a:latin typeface="IBM Plex Sans" pitchFamily="34" charset="0"/>
                <a:ea typeface="IBM Plex Sans" pitchFamily="34" charset="-122"/>
                <a:cs typeface="IBM Plex Sans" pitchFamily="34" charset="-120"/>
              </a:rPr>
              <a:t>· 11</a:t>
            </a:r>
            <a:endParaRPr lang="en-US" sz="1600" dirty="0"/>
          </a:p>
        </p:txBody>
      </p:sp>
      <p:sp>
        <p:nvSpPr>
          <p:cNvPr id="6" name="Text 4"/>
          <p:cNvSpPr/>
          <p:nvPr/>
        </p:nvSpPr>
        <p:spPr>
          <a:xfrm>
            <a:off x="1046480" y="2931164"/>
            <a:ext cx="486874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Length, word count, camelCase, starts with a verb, cryptic short words, overlap between name and body</a:t>
            </a:r>
            <a:endParaRPr lang="en-US" sz="1300" dirty="0"/>
          </a:p>
        </p:txBody>
      </p:sp>
      <p:sp>
        <p:nvSpPr>
          <p:cNvPr id="7" name="Shape 5"/>
          <p:cNvSpPr/>
          <p:nvPr/>
        </p:nvSpPr>
        <p:spPr>
          <a:xfrm>
            <a:off x="6188075" y="2380617"/>
            <a:ext cx="5187950" cy="1243330"/>
          </a:xfrm>
          <a:prstGeom prst="roundRect">
            <a:avLst>
              <a:gd name="adj" fmla="val 7916"/>
            </a:avLst>
          </a:prstGeom>
          <a:solidFill>
            <a:srgbClr val="FFFDF8"/>
          </a:solidFill>
          <a:ln w="6350">
            <a:solidFill>
              <a:srgbClr val="DDD7C8"/>
            </a:solidFill>
            <a:prstDash val="solid"/>
          </a:ln>
        </p:spPr>
      </p:sp>
      <p:sp>
        <p:nvSpPr>
          <p:cNvPr id="8" name="Text 6"/>
          <p:cNvSpPr/>
          <p:nvPr/>
        </p:nvSpPr>
        <p:spPr>
          <a:xfrm>
            <a:off x="6418580" y="2611121"/>
            <a:ext cx="48687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Code </a:t>
            </a:r>
            <a:r>
              <a:rPr lang="en-US" sz="1600" b="1" dirty="0">
                <a:solidFill>
                  <a:srgbClr val="B5501A"/>
                </a:solidFill>
                <a:latin typeface="IBM Plex Sans" pitchFamily="34" charset="0"/>
                <a:ea typeface="IBM Plex Sans" pitchFamily="34" charset="-122"/>
                <a:cs typeface="IBM Plex Sans" pitchFamily="34" charset="-120"/>
              </a:rPr>
              <a:t>· 16</a:t>
            </a:r>
            <a:endParaRPr lang="en-US" sz="1600" dirty="0"/>
          </a:p>
        </p:txBody>
      </p:sp>
      <p:sp>
        <p:nvSpPr>
          <p:cNvPr id="9" name="Text 7"/>
          <p:cNvSpPr/>
          <p:nvPr/>
        </p:nvSpPr>
        <p:spPr>
          <a:xfrm>
            <a:off x="6418580" y="2931164"/>
            <a:ext cx="486874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Lines of code, parameters, complexity, nesting, docstring, empty stub, decorators</a:t>
            </a:r>
            <a:endParaRPr lang="en-US" sz="1300" dirty="0"/>
          </a:p>
        </p:txBody>
      </p:sp>
      <p:sp>
        <p:nvSpPr>
          <p:cNvPr id="10" name="Shape 8"/>
          <p:cNvSpPr/>
          <p:nvPr/>
        </p:nvSpPr>
        <p:spPr>
          <a:xfrm>
            <a:off x="815975" y="3808096"/>
            <a:ext cx="5187950" cy="1243330"/>
          </a:xfrm>
          <a:prstGeom prst="roundRect">
            <a:avLst>
              <a:gd name="adj" fmla="val 7916"/>
            </a:avLst>
          </a:prstGeom>
          <a:solidFill>
            <a:srgbClr val="FFFDF8"/>
          </a:solidFill>
          <a:ln w="6350">
            <a:solidFill>
              <a:srgbClr val="DDD7C8"/>
            </a:solidFill>
            <a:prstDash val="solid"/>
          </a:ln>
        </p:spPr>
      </p:sp>
      <p:sp>
        <p:nvSpPr>
          <p:cNvPr id="11" name="Text 9"/>
          <p:cNvSpPr/>
          <p:nvPr/>
        </p:nvSpPr>
        <p:spPr>
          <a:xfrm>
            <a:off x="1046480" y="4038600"/>
            <a:ext cx="48687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Context </a:t>
            </a:r>
            <a:r>
              <a:rPr lang="en-US" sz="1600" b="1" dirty="0">
                <a:solidFill>
                  <a:srgbClr val="B5501A"/>
                </a:solidFill>
                <a:latin typeface="IBM Plex Sans" pitchFamily="34" charset="0"/>
                <a:ea typeface="IBM Plex Sans" pitchFamily="34" charset="-122"/>
                <a:cs typeface="IBM Plex Sans" pitchFamily="34" charset="-120"/>
              </a:rPr>
              <a:t>· 7</a:t>
            </a:r>
            <a:endParaRPr lang="en-US" sz="1600" dirty="0"/>
          </a:p>
        </p:txBody>
      </p:sp>
      <p:sp>
        <p:nvSpPr>
          <p:cNvPr id="12" name="Text 10"/>
          <p:cNvSpPr/>
          <p:nvPr/>
        </p:nvSpPr>
        <p:spPr>
          <a:xfrm>
            <a:off x="1046480" y="4358642"/>
            <a:ext cx="486874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In a class, class size, file size, number of methods in file, call sites, test file</a:t>
            </a:r>
            <a:endParaRPr lang="en-US" sz="1300" dirty="0"/>
          </a:p>
        </p:txBody>
      </p:sp>
      <p:sp>
        <p:nvSpPr>
          <p:cNvPr id="13" name="Shape 11"/>
          <p:cNvSpPr/>
          <p:nvPr/>
        </p:nvSpPr>
        <p:spPr>
          <a:xfrm>
            <a:off x="6188075" y="3808096"/>
            <a:ext cx="5187950" cy="1243330"/>
          </a:xfrm>
          <a:prstGeom prst="roundRect">
            <a:avLst>
              <a:gd name="adj" fmla="val 7916"/>
            </a:avLst>
          </a:prstGeom>
          <a:solidFill>
            <a:srgbClr val="FFFDF8"/>
          </a:solidFill>
          <a:ln w="6350">
            <a:solidFill>
              <a:srgbClr val="DDD7C8"/>
            </a:solidFill>
            <a:prstDash val="solid"/>
          </a:ln>
        </p:spPr>
      </p:sp>
      <p:sp>
        <p:nvSpPr>
          <p:cNvPr id="14" name="Text 12"/>
          <p:cNvSpPr/>
          <p:nvPr/>
        </p:nvSpPr>
        <p:spPr>
          <a:xfrm>
            <a:off x="6418580" y="4038600"/>
            <a:ext cx="48687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Relative to file </a:t>
            </a:r>
            <a:r>
              <a:rPr lang="en-US" sz="1600" b="1" dirty="0">
                <a:solidFill>
                  <a:srgbClr val="B5501A"/>
                </a:solidFill>
                <a:latin typeface="IBM Plex Sans" pitchFamily="34" charset="0"/>
                <a:ea typeface="IBM Plex Sans" pitchFamily="34" charset="-122"/>
                <a:cs typeface="IBM Plex Sans" pitchFamily="34" charset="-120"/>
              </a:rPr>
              <a:t>· 12</a:t>
            </a:r>
            <a:endParaRPr lang="en-US" sz="1600" dirty="0"/>
          </a:p>
        </p:txBody>
      </p:sp>
      <p:sp>
        <p:nvSpPr>
          <p:cNvPr id="15" name="Text 13"/>
          <p:cNvSpPr/>
          <p:nvPr/>
        </p:nvSpPr>
        <p:spPr>
          <a:xfrm>
            <a:off x="6418580" y="4358642"/>
            <a:ext cx="486874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Does the name share words and style with its siblings? Is the method longer or busier than the file average?</a:t>
            </a:r>
            <a:endParaRPr lang="en-US" sz="13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Not used on purpose: commit message, the new name, anything from the After code (would leak the answer)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STEP 9 OF 9 · TRAIN</a:t>
            </a:r>
            <a:endParaRPr lang="en-US" sz="1200" dirty="0"/>
          </a:p>
        </p:txBody>
      </p:sp>
      <p:sp>
        <p:nvSpPr>
          <p:cNvPr id="3" name="Text 1"/>
          <p:cNvSpPr/>
          <p:nvPr>
            <p:ph type="title"/>
          </p:nvPr>
        </p:nvSpPr>
        <p:spPr>
          <a:xfrm>
            <a:off x="812800" y="1127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Trained six models, tested fairly</a:t>
            </a:r>
            <a:endParaRPr lang="en-US" sz="3000" dirty="0"/>
          </a:p>
        </p:txBody>
      </p:sp>
      <p:sp>
        <p:nvSpPr>
          <p:cNvPr id="4" name="Shape 2"/>
          <p:cNvSpPr/>
          <p:nvPr/>
        </p:nvSpPr>
        <p:spPr>
          <a:xfrm>
            <a:off x="815975" y="1854839"/>
            <a:ext cx="3400584" cy="2636520"/>
          </a:xfrm>
          <a:prstGeom prst="roundRect">
            <a:avLst>
              <a:gd name="adj" fmla="val 3733"/>
            </a:avLst>
          </a:prstGeom>
          <a:solidFill>
            <a:srgbClr val="FFFDF8"/>
          </a:solidFill>
          <a:ln w="6350">
            <a:solidFill>
              <a:srgbClr val="DDD7C8"/>
            </a:solidFill>
            <a:prstDash val="solid"/>
          </a:ln>
        </p:spPr>
      </p:sp>
      <p:sp>
        <p:nvSpPr>
          <p:cNvPr id="5" name="Text 3"/>
          <p:cNvSpPr/>
          <p:nvPr/>
        </p:nvSpPr>
        <p:spPr>
          <a:xfrm>
            <a:off x="1046480" y="2085342"/>
            <a:ext cx="30277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5501A"/>
                </a:solidFill>
                <a:latin typeface="IBM Plex Sans" pitchFamily="34" charset="0"/>
                <a:ea typeface="IBM Plex Sans" pitchFamily="34" charset="-122"/>
                <a:cs typeface="IBM Plex Sans" pitchFamily="34" charset="-120"/>
              </a:rPr>
              <a:t>What we did</a:t>
            </a:r>
            <a:endParaRPr lang="en-US" sz="1500" dirty="0"/>
          </a:p>
        </p:txBody>
      </p:sp>
      <p:sp>
        <p:nvSpPr>
          <p:cNvPr id="6" name="Text 4"/>
          <p:cNvSpPr/>
          <p:nvPr/>
        </p:nvSpPr>
        <p:spPr>
          <a:xfrm>
            <a:off x="1046480" y="2402842"/>
            <a:ext cx="3027761" cy="50546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3E4A5C"/>
                </a:solidFill>
                <a:latin typeface="IBM Plex Sans" pitchFamily="34" charset="0"/>
                <a:ea typeface="IBM Plex Sans" pitchFamily="34" charset="-122"/>
                <a:cs typeface="IBM Plex Sans" pitchFamily="34" charset="-120"/>
              </a:rPr>
              <a:t>3 baselines</a:t>
            </a:r>
            <a:r>
              <a:rPr lang="en-US" sz="1350" dirty="0">
                <a:solidFill>
                  <a:srgbClr val="3E4A5C"/>
                </a:solidFill>
                <a:latin typeface="IBM Plex Sans" pitchFamily="34" charset="0"/>
                <a:ea typeface="IBM Plex Sans" pitchFamily="34" charset="-122"/>
                <a:cs typeface="IBM Plex Sans" pitchFamily="34" charset="-120"/>
              </a:rPr>
              <a:t>: always “no”, random guess, a bad-name rule.</a:t>
            </a:r>
            <a:endParaRPr lang="en-US" sz="1350" dirty="0"/>
          </a:p>
        </p:txBody>
      </p:sp>
      <p:sp>
        <p:nvSpPr>
          <p:cNvPr id="7" name="Text 5"/>
          <p:cNvSpPr/>
          <p:nvPr/>
        </p:nvSpPr>
        <p:spPr>
          <a:xfrm>
            <a:off x="1046480" y="2971800"/>
            <a:ext cx="3027761" cy="74549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3E4A5C"/>
                </a:solidFill>
                <a:latin typeface="IBM Plex Sans" pitchFamily="34" charset="0"/>
                <a:ea typeface="IBM Plex Sans" pitchFamily="34" charset="-122"/>
                <a:cs typeface="IBM Plex Sans" pitchFamily="34" charset="-120"/>
              </a:rPr>
              <a:t>3 ML models</a:t>
            </a:r>
            <a:r>
              <a:rPr lang="en-US" sz="1350" dirty="0">
                <a:solidFill>
                  <a:srgbClr val="3E4A5C"/>
                </a:solidFill>
                <a:latin typeface="IBM Plex Sans" pitchFamily="34" charset="0"/>
                <a:ea typeface="IBM Plex Sans" pitchFamily="34" charset="-122"/>
                <a:cs typeface="IBM Plex Sans" pitchFamily="34" charset="-120"/>
              </a:rPr>
              <a:t>: Logistic Regression, Random Forest, LightGBM, weighted for the rare “renamed” class.</a:t>
            </a:r>
            <a:endParaRPr lang="en-US" sz="1350" dirty="0"/>
          </a:p>
        </p:txBody>
      </p:sp>
      <p:sp>
        <p:nvSpPr>
          <p:cNvPr id="8" name="Text 6"/>
          <p:cNvSpPr/>
          <p:nvPr/>
        </p:nvSpPr>
        <p:spPr>
          <a:xfrm>
            <a:off x="1046480" y="3780792"/>
            <a:ext cx="3027761"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E4A5C"/>
                </a:solidFill>
                <a:latin typeface="IBM Plex Sans" pitchFamily="34" charset="0"/>
                <a:ea typeface="IBM Plex Sans" pitchFamily="34" charset="-122"/>
                <a:cs typeface="IBM Plex Sans" pitchFamily="34" charset="-120"/>
              </a:rPr>
              <a:t>Ran in Google Colab (Windows blocked scikit-learn on our PC).</a:t>
            </a:r>
            <a:endParaRPr lang="en-US" sz="1350" dirty="0"/>
          </a:p>
        </p:txBody>
      </p:sp>
      <p:sp>
        <p:nvSpPr>
          <p:cNvPr id="9" name="Shape 7"/>
          <p:cNvSpPr/>
          <p:nvPr/>
        </p:nvSpPr>
        <p:spPr>
          <a:xfrm>
            <a:off x="4400709" y="1854839"/>
            <a:ext cx="3400663" cy="2636520"/>
          </a:xfrm>
          <a:prstGeom prst="roundRect">
            <a:avLst>
              <a:gd name="adj" fmla="val 3733"/>
            </a:avLst>
          </a:prstGeom>
          <a:solidFill>
            <a:srgbClr val="FFFDF8"/>
          </a:solidFill>
          <a:ln w="6350">
            <a:solidFill>
              <a:srgbClr val="DDD7C8"/>
            </a:solidFill>
            <a:prstDash val="solid"/>
          </a:ln>
        </p:spPr>
      </p:sp>
      <p:sp>
        <p:nvSpPr>
          <p:cNvPr id="10" name="Text 8"/>
          <p:cNvSpPr/>
          <p:nvPr/>
        </p:nvSpPr>
        <p:spPr>
          <a:xfrm>
            <a:off x="4631214" y="2085342"/>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8A"/>
                </a:solidFill>
                <a:latin typeface="IBM Plex Sans" pitchFamily="34" charset="0"/>
                <a:ea typeface="IBM Plex Sans" pitchFamily="34" charset="-122"/>
                <a:cs typeface="IBM Plex Sans" pitchFamily="34" charset="-120"/>
              </a:rPr>
              <a:t>How we test</a:t>
            </a:r>
            <a:endParaRPr lang="en-US" sz="1500" dirty="0"/>
          </a:p>
        </p:txBody>
      </p:sp>
      <p:sp>
        <p:nvSpPr>
          <p:cNvPr id="11" name="Text 9"/>
          <p:cNvSpPr/>
          <p:nvPr/>
        </p:nvSpPr>
        <p:spPr>
          <a:xfrm>
            <a:off x="4631214" y="2402842"/>
            <a:ext cx="3027843" cy="50546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3E4A5C"/>
                </a:solidFill>
                <a:latin typeface="IBM Plex Sans" pitchFamily="34" charset="0"/>
                <a:ea typeface="IBM Plex Sans" pitchFamily="34" charset="-122"/>
                <a:cs typeface="IBM Plex Sans" pitchFamily="34" charset="-120"/>
              </a:rPr>
              <a:t>5-fold cross-validation</a:t>
            </a:r>
            <a:r>
              <a:rPr lang="en-US" sz="1350" dirty="0">
                <a:solidFill>
                  <a:srgbClr val="3E4A5C"/>
                </a:solidFill>
                <a:latin typeface="IBM Plex Sans" pitchFamily="34" charset="0"/>
                <a:ea typeface="IBM Plex Sans" pitchFamily="34" charset="-122"/>
                <a:cs typeface="IBM Plex Sans" pitchFamily="34" charset="-120"/>
              </a:rPr>
              <a:t>: train on 4 parts, check on 1, five times.</a:t>
            </a:r>
            <a:endParaRPr lang="en-US" sz="1350" dirty="0"/>
          </a:p>
        </p:txBody>
      </p:sp>
      <p:sp>
        <p:nvSpPr>
          <p:cNvPr id="12" name="Text 10"/>
          <p:cNvSpPr/>
          <p:nvPr/>
        </p:nvSpPr>
        <p:spPr>
          <a:xfrm>
            <a:off x="4631214" y="2971800"/>
            <a:ext cx="3027843" cy="74549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3E4A5C"/>
                </a:solidFill>
                <a:latin typeface="IBM Plex Sans" pitchFamily="34" charset="0"/>
                <a:ea typeface="IBM Plex Sans" pitchFamily="34" charset="-122"/>
                <a:cs typeface="IBM Plex Sans" pitchFamily="34" charset="-120"/>
              </a:rPr>
              <a:t>Grouped by project</a:t>
            </a:r>
            <a:r>
              <a:rPr lang="en-US" sz="1350" dirty="0">
                <a:solidFill>
                  <a:srgbClr val="3E4A5C"/>
                </a:solidFill>
                <a:latin typeface="IBM Plex Sans" pitchFamily="34" charset="0"/>
                <a:ea typeface="IBM Plex Sans" pitchFamily="34" charset="-122"/>
                <a:cs typeface="IBM Plex Sans" pitchFamily="34" charset="-120"/>
              </a:rPr>
              <a:t>: a project is never in both parts, so the model cannot memorise a project’s style.</a:t>
            </a:r>
            <a:endParaRPr lang="en-US" sz="1350" dirty="0"/>
          </a:p>
        </p:txBody>
      </p:sp>
      <p:sp>
        <p:nvSpPr>
          <p:cNvPr id="13" name="Shape 11"/>
          <p:cNvSpPr/>
          <p:nvPr/>
        </p:nvSpPr>
        <p:spPr>
          <a:xfrm>
            <a:off x="7982347" y="1851664"/>
            <a:ext cx="3396853" cy="2642870"/>
          </a:xfrm>
          <a:prstGeom prst="roundRect">
            <a:avLst>
              <a:gd name="adj" fmla="val 3844"/>
            </a:avLst>
          </a:prstGeom>
          <a:solidFill>
            <a:srgbClr val="14213D"/>
          </a:solidFill>
          <a:ln/>
        </p:spPr>
      </p:sp>
      <p:sp>
        <p:nvSpPr>
          <p:cNvPr id="14" name="Text 12"/>
          <p:cNvSpPr/>
          <p:nvPr/>
        </p:nvSpPr>
        <p:spPr>
          <a:xfrm>
            <a:off x="8210947" y="2080264"/>
            <a:ext cx="30278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6B"/>
                </a:solidFill>
                <a:latin typeface="IBM Plex Sans" pitchFamily="34" charset="0"/>
                <a:ea typeface="IBM Plex Sans" pitchFamily="34" charset="-122"/>
                <a:cs typeface="IBM Plex Sans" pitchFamily="34" charset="-120"/>
              </a:rPr>
              <a:t>How we score</a:t>
            </a:r>
            <a:endParaRPr lang="en-US" sz="1500" dirty="0"/>
          </a:p>
        </p:txBody>
      </p:sp>
      <p:sp>
        <p:nvSpPr>
          <p:cNvPr id="15" name="Text 13"/>
          <p:cNvSpPr/>
          <p:nvPr/>
        </p:nvSpPr>
        <p:spPr>
          <a:xfrm>
            <a:off x="8210947" y="2397764"/>
            <a:ext cx="3027843" cy="74549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6F4EE"/>
                </a:solidFill>
                <a:latin typeface="IBM Plex Sans" pitchFamily="34" charset="0"/>
                <a:ea typeface="IBM Plex Sans" pitchFamily="34" charset="-122"/>
                <a:cs typeface="IBM Plex Sans" pitchFamily="34" charset="-120"/>
              </a:rPr>
              <a:t>PR-AUC</a:t>
            </a:r>
            <a:r>
              <a:rPr lang="en-US" sz="1350" dirty="0">
                <a:solidFill>
                  <a:srgbClr val="C9D1DE"/>
                </a:solidFill>
                <a:latin typeface="IBM Plex Sans" pitchFamily="34" charset="0"/>
                <a:ea typeface="IBM Plex Sans" pitchFamily="34" charset="-122"/>
                <a:cs typeface="IBM Plex Sans" pitchFamily="34" charset="-120"/>
              </a:rPr>
              <a:t> (main): how well renamed methods are ranked on top. Random = share of renamed methods.</a:t>
            </a:r>
            <a:endParaRPr lang="en-US" sz="1350" dirty="0"/>
          </a:p>
        </p:txBody>
      </p:sp>
      <p:sp>
        <p:nvSpPr>
          <p:cNvPr id="16" name="Text 14"/>
          <p:cNvSpPr/>
          <p:nvPr/>
        </p:nvSpPr>
        <p:spPr>
          <a:xfrm>
            <a:off x="8210947" y="3206750"/>
            <a:ext cx="3027843"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9D1DE"/>
                </a:solidFill>
                <a:latin typeface="IBM Plex Sans" pitchFamily="34" charset="0"/>
                <a:ea typeface="IBM Plex Sans" pitchFamily="34" charset="-122"/>
                <a:cs typeface="IBM Plex Sans" pitchFamily="34" charset="-120"/>
              </a:rPr>
              <a:t>Also precision, recall, F1, MCC. Not accuracy: always saying “no” already scores 89–99%.</a:t>
            </a:r>
            <a:endParaRPr lang="en-US" sz="135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Scripts: Train_Models.py · Ablation.py · Ablation_v2.py · output: results/cv_results.csv</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EXPERIMENT 1 · 2,158 METHODS · 11% RENAMED</a:t>
            </a:r>
            <a:endParaRPr lang="en-US" sz="1200" dirty="0"/>
          </a:p>
        </p:txBody>
      </p:sp>
      <p:sp>
        <p:nvSpPr>
          <p:cNvPr id="3" name="Text 1"/>
          <p:cNvSpPr/>
          <p:nvPr>
            <p:ph type="title"/>
          </p:nvPr>
        </p:nvSpPr>
        <p:spPr>
          <a:xfrm>
            <a:off x="812800" y="1127764"/>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First result: Random Forest about 2.5× better than random</a:t>
            </a:r>
            <a:endParaRPr lang="en-US" sz="3200" dirty="0"/>
          </a:p>
        </p:txBody>
      </p:sp>
      <p:sp>
        <p:nvSpPr>
          <p:cNvPr id="4" name="Text 2"/>
          <p:cNvSpPr/>
          <p:nvPr/>
        </p:nvSpPr>
        <p:spPr>
          <a:xfrm>
            <a:off x="812800" y="23266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PR-AUC, 5-fold cross-validation grouped by project (higher is better)</a:t>
            </a:r>
            <a:endParaRPr lang="en-US" sz="1200" dirty="0"/>
          </a:p>
        </p:txBody>
      </p:sp>
      <p:sp>
        <p:nvSpPr>
          <p:cNvPr id="5" name="Text 3"/>
          <p:cNvSpPr/>
          <p:nvPr/>
        </p:nvSpPr>
        <p:spPr>
          <a:xfrm>
            <a:off x="812800" y="2669542"/>
            <a:ext cx="235458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Majority (always no)</a:t>
            </a:r>
            <a:endParaRPr lang="en-US" sz="1400" dirty="0"/>
          </a:p>
        </p:txBody>
      </p:sp>
      <p:sp>
        <p:nvSpPr>
          <p:cNvPr id="6" name="Shape 4"/>
          <p:cNvSpPr/>
          <p:nvPr/>
        </p:nvSpPr>
        <p:spPr>
          <a:xfrm>
            <a:off x="3251200" y="2654300"/>
            <a:ext cx="2628900" cy="279400"/>
          </a:xfrm>
          <a:prstGeom prst="roundRect">
            <a:avLst>
              <a:gd name="adj" fmla="val 13636"/>
            </a:avLst>
          </a:prstGeom>
          <a:solidFill>
            <a:srgbClr val="B9C3D1"/>
          </a:solidFill>
          <a:ln/>
        </p:spPr>
      </p:sp>
      <p:sp>
        <p:nvSpPr>
          <p:cNvPr id="7" name="Text 5"/>
          <p:cNvSpPr/>
          <p:nvPr/>
        </p:nvSpPr>
        <p:spPr>
          <a:xfrm>
            <a:off x="6032500" y="2669542"/>
            <a:ext cx="5701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0.113</a:t>
            </a:r>
            <a:endParaRPr lang="en-US" sz="1400" dirty="0"/>
          </a:p>
        </p:txBody>
      </p:sp>
      <p:sp>
        <p:nvSpPr>
          <p:cNvPr id="8" name="Text 6"/>
          <p:cNvSpPr/>
          <p:nvPr/>
        </p:nvSpPr>
        <p:spPr>
          <a:xfrm>
            <a:off x="812800" y="3063242"/>
            <a:ext cx="235458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Random guess</a:t>
            </a:r>
            <a:endParaRPr lang="en-US" sz="1400" dirty="0"/>
          </a:p>
        </p:txBody>
      </p:sp>
      <p:sp>
        <p:nvSpPr>
          <p:cNvPr id="9" name="Shape 7"/>
          <p:cNvSpPr/>
          <p:nvPr/>
        </p:nvSpPr>
        <p:spPr>
          <a:xfrm>
            <a:off x="3251200" y="3048000"/>
            <a:ext cx="2559050" cy="279400"/>
          </a:xfrm>
          <a:prstGeom prst="roundRect">
            <a:avLst>
              <a:gd name="adj" fmla="val 13636"/>
            </a:avLst>
          </a:prstGeom>
          <a:solidFill>
            <a:srgbClr val="B9C3D1"/>
          </a:solidFill>
          <a:ln/>
        </p:spPr>
      </p:sp>
      <p:sp>
        <p:nvSpPr>
          <p:cNvPr id="10" name="Text 8"/>
          <p:cNvSpPr/>
          <p:nvPr/>
        </p:nvSpPr>
        <p:spPr>
          <a:xfrm>
            <a:off x="5962650" y="3063242"/>
            <a:ext cx="5701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0.110</a:t>
            </a:r>
            <a:endParaRPr lang="en-US" sz="1400" dirty="0"/>
          </a:p>
        </p:txBody>
      </p:sp>
      <p:sp>
        <p:nvSpPr>
          <p:cNvPr id="11" name="Text 9"/>
          <p:cNvSpPr/>
          <p:nvPr/>
        </p:nvSpPr>
        <p:spPr>
          <a:xfrm>
            <a:off x="812800" y="3456942"/>
            <a:ext cx="235458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Bad-name rule</a:t>
            </a:r>
            <a:endParaRPr lang="en-US" sz="1400" dirty="0"/>
          </a:p>
        </p:txBody>
      </p:sp>
      <p:sp>
        <p:nvSpPr>
          <p:cNvPr id="12" name="Shape 10"/>
          <p:cNvSpPr/>
          <p:nvPr/>
        </p:nvSpPr>
        <p:spPr>
          <a:xfrm>
            <a:off x="3251200" y="3441700"/>
            <a:ext cx="2838450" cy="279400"/>
          </a:xfrm>
          <a:prstGeom prst="roundRect">
            <a:avLst>
              <a:gd name="adj" fmla="val 13636"/>
            </a:avLst>
          </a:prstGeom>
          <a:solidFill>
            <a:srgbClr val="B9C3D1"/>
          </a:solidFill>
          <a:ln/>
        </p:spPr>
      </p:sp>
      <p:sp>
        <p:nvSpPr>
          <p:cNvPr id="13" name="Text 11"/>
          <p:cNvSpPr/>
          <p:nvPr/>
        </p:nvSpPr>
        <p:spPr>
          <a:xfrm>
            <a:off x="6242050" y="3456942"/>
            <a:ext cx="5701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0.122</a:t>
            </a:r>
            <a:endParaRPr lang="en-US" sz="1400" dirty="0"/>
          </a:p>
        </p:txBody>
      </p:sp>
      <p:sp>
        <p:nvSpPr>
          <p:cNvPr id="14" name="Text 12"/>
          <p:cNvSpPr/>
          <p:nvPr/>
        </p:nvSpPr>
        <p:spPr>
          <a:xfrm>
            <a:off x="812800" y="3850642"/>
            <a:ext cx="235458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Logistic Regression</a:t>
            </a:r>
            <a:endParaRPr lang="en-US" sz="1400" dirty="0"/>
          </a:p>
        </p:txBody>
      </p:sp>
      <p:sp>
        <p:nvSpPr>
          <p:cNvPr id="15" name="Shape 13"/>
          <p:cNvSpPr/>
          <p:nvPr/>
        </p:nvSpPr>
        <p:spPr>
          <a:xfrm>
            <a:off x="3251200" y="3835400"/>
            <a:ext cx="5213350" cy="279400"/>
          </a:xfrm>
          <a:prstGeom prst="roundRect">
            <a:avLst>
              <a:gd name="adj" fmla="val 13636"/>
            </a:avLst>
          </a:prstGeom>
          <a:solidFill>
            <a:srgbClr val="2F5D8A"/>
          </a:solidFill>
          <a:ln/>
        </p:spPr>
      </p:sp>
      <p:sp>
        <p:nvSpPr>
          <p:cNvPr id="16" name="Text 14"/>
          <p:cNvSpPr/>
          <p:nvPr/>
        </p:nvSpPr>
        <p:spPr>
          <a:xfrm>
            <a:off x="8616950" y="3850642"/>
            <a:ext cx="5701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0.224</a:t>
            </a:r>
            <a:endParaRPr lang="en-US" sz="1400" dirty="0"/>
          </a:p>
        </p:txBody>
      </p:sp>
      <p:sp>
        <p:nvSpPr>
          <p:cNvPr id="17" name="Text 15"/>
          <p:cNvSpPr/>
          <p:nvPr/>
        </p:nvSpPr>
        <p:spPr>
          <a:xfrm>
            <a:off x="812800" y="4244342"/>
            <a:ext cx="235458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LightGBM</a:t>
            </a:r>
            <a:endParaRPr lang="en-US" sz="1400" dirty="0"/>
          </a:p>
        </p:txBody>
      </p:sp>
      <p:sp>
        <p:nvSpPr>
          <p:cNvPr id="18" name="Shape 16"/>
          <p:cNvSpPr/>
          <p:nvPr/>
        </p:nvSpPr>
        <p:spPr>
          <a:xfrm>
            <a:off x="3251200" y="4229100"/>
            <a:ext cx="6242050" cy="279400"/>
          </a:xfrm>
          <a:prstGeom prst="roundRect">
            <a:avLst>
              <a:gd name="adj" fmla="val 13636"/>
            </a:avLst>
          </a:prstGeom>
          <a:solidFill>
            <a:srgbClr val="2F5D8A"/>
          </a:solidFill>
          <a:ln/>
        </p:spPr>
      </p:sp>
      <p:sp>
        <p:nvSpPr>
          <p:cNvPr id="19" name="Text 17"/>
          <p:cNvSpPr/>
          <p:nvPr/>
        </p:nvSpPr>
        <p:spPr>
          <a:xfrm>
            <a:off x="9645650" y="4244342"/>
            <a:ext cx="5701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0.268</a:t>
            </a:r>
            <a:endParaRPr lang="en-US" sz="1400" dirty="0"/>
          </a:p>
        </p:txBody>
      </p:sp>
      <p:sp>
        <p:nvSpPr>
          <p:cNvPr id="20" name="Text 18"/>
          <p:cNvSpPr/>
          <p:nvPr/>
        </p:nvSpPr>
        <p:spPr>
          <a:xfrm>
            <a:off x="812800" y="4638042"/>
            <a:ext cx="23545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Random Forest</a:t>
            </a:r>
            <a:endParaRPr lang="en-US" sz="1400" dirty="0"/>
          </a:p>
        </p:txBody>
      </p:sp>
      <p:sp>
        <p:nvSpPr>
          <p:cNvPr id="21" name="Shape 19"/>
          <p:cNvSpPr/>
          <p:nvPr/>
        </p:nvSpPr>
        <p:spPr>
          <a:xfrm>
            <a:off x="3251200" y="4622800"/>
            <a:ext cx="6661150" cy="279400"/>
          </a:xfrm>
          <a:prstGeom prst="roundRect">
            <a:avLst>
              <a:gd name="adj" fmla="val 13636"/>
            </a:avLst>
          </a:prstGeom>
          <a:solidFill>
            <a:srgbClr val="B5501A"/>
          </a:solidFill>
          <a:ln/>
        </p:spPr>
      </p:sp>
      <p:sp>
        <p:nvSpPr>
          <p:cNvPr id="22" name="Text 20"/>
          <p:cNvSpPr/>
          <p:nvPr/>
        </p:nvSpPr>
        <p:spPr>
          <a:xfrm>
            <a:off x="10064750" y="4638042"/>
            <a:ext cx="120176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0.286 (best)</a:t>
            </a:r>
            <a:endParaRPr lang="en-US" sz="1400" dirty="0"/>
          </a:p>
        </p:txBody>
      </p:sp>
      <p:sp>
        <p:nvSpPr>
          <p:cNvPr id="23" name="Text 2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Negatives here: other methods from the same files as a rename · grey = baselines, blue = ML models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CE8D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ABLATION CHECK</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Remove file size, and the signal almost disappears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5704840" cy="3235960"/>
        </p:xfrm>
        <a:graphic>
          <a:graphicData uri="http://schemas.openxmlformats.org/drawingml/2006/table">
            <a:tbl>
              <a:tblPr/>
              <a:tblGrid>
                <a:gridCol w="2852420"/>
                <a:gridCol w="2852420"/>
              </a:tblGrid>
              <a:tr h="462280">
                <a:tc>
                  <a:txBody>
                    <a:bodyPr/>
                    <a:lstStyle/>
                    <a:p>
                      <a:pPr indent="0" marL="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Feature set</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BCB9B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Best PR-AUC</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6228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All features</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BCB9B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0.294</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BCB9B1"/>
                      </a:solidFill>
                      <a:prstDash val="solid"/>
                      <a:round/>
                      <a:headEnd type="none" w="med" len="med"/>
                      <a:tailEnd type="none" w="med" len="med"/>
                    </a:lnB>
                  </a:tcPr>
                </a:tc>
              </a:tr>
              <a:tr h="46228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Context only (includes file size)</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0.307</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tcPr>
                </a:tc>
              </a:tr>
              <a:tr h="462280">
                <a:tc>
                  <a:txBody>
                    <a:bodyPr/>
                    <a:lstStyle/>
                    <a:p>
                      <a:pPr indent="0" marL="0">
                        <a:lnSpc>
                          <a:spcPts val="1960"/>
                        </a:lnSpc>
                        <a:buNone/>
                      </a:pPr>
                      <a:r>
                        <a:rPr lang="en-US" sz="1400" dirty="0">
                          <a:solidFill>
                            <a:srgbClr val="B5501A"/>
                          </a:solidFill>
                          <a:latin typeface="IBM Plex Sans" pitchFamily="34" charset="0"/>
                          <a:ea typeface="IBM Plex Sans" pitchFamily="34" charset="-122"/>
                          <a:cs typeface="IBM Plex Sans" pitchFamily="34" charset="-120"/>
                        </a:rPr>
                        <a:t>Without file-size features</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tcPr>
                </a:tc>
                <a:tc>
                  <a:txBody>
                    <a:bodyPr/>
                    <a:lstStyle/>
                    <a:p>
                      <a:pPr algn="r" indent="0" marL="0">
                        <a:lnSpc>
                          <a:spcPts val="1960"/>
                        </a:lnSpc>
                        <a:buNone/>
                      </a:pPr>
                      <a:r>
                        <a:rPr lang="en-US" sz="1400" dirty="0">
                          <a:solidFill>
                            <a:srgbClr val="B5501A"/>
                          </a:solidFill>
                          <a:latin typeface="IBM Plex Sans" pitchFamily="34" charset="0"/>
                          <a:ea typeface="IBM Plex Sans" pitchFamily="34" charset="-122"/>
                          <a:cs typeface="IBM Plex Sans" pitchFamily="34" charset="-120"/>
                        </a:rPr>
                        <a:t>0.139</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tcPr>
                </a:tc>
              </a:tr>
              <a:tr h="46228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Name only</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0.141</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tcPr>
                </a:tc>
              </a:tr>
              <a:tr h="46228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Code only</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0.132</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tcPr>
                </a:tc>
              </a:tr>
              <a:tr h="462280">
                <a:tc>
                  <a:txBody>
                    <a:bodyPr/>
                    <a:lstStyle/>
                    <a:p>
                      <a:pPr indent="0" marL="0">
                        <a:lnSpc>
                          <a:spcPts val="1960"/>
                        </a:lnSpc>
                        <a:buNone/>
                      </a:pPr>
                      <a:r>
                        <a:rPr lang="en-US" sz="1400" dirty="0">
                          <a:solidFill>
                            <a:srgbClr val="6B7280"/>
                          </a:solidFill>
                          <a:latin typeface="IBM Plex Sans" pitchFamily="34" charset="0"/>
                          <a:ea typeface="IBM Plex Sans" pitchFamily="34" charset="-122"/>
                          <a:cs typeface="IBM Plex Sans" pitchFamily="34" charset="-120"/>
                        </a:rPr>
                        <a:t>Random guess</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tcPr>
                </a:tc>
                <a:tc>
                  <a:txBody>
                    <a:bodyPr/>
                    <a:lstStyle/>
                    <a:p>
                      <a:pPr algn="r" indent="0" marL="0">
                        <a:lnSpc>
                          <a:spcPts val="1960"/>
                        </a:lnSpc>
                        <a:buNone/>
                      </a:pPr>
                      <a:r>
                        <a:rPr lang="en-US" sz="1400" dirty="0">
                          <a:solidFill>
                            <a:srgbClr val="6B7280"/>
                          </a:solidFill>
                          <a:latin typeface="IBM Plex Sans" pitchFamily="34" charset="0"/>
                          <a:ea typeface="IBM Plex Sans" pitchFamily="34" charset="-122"/>
                          <a:cs typeface="IBM Plex Sans" pitchFamily="34" charset="-120"/>
                        </a:rPr>
                        <a:t>0.113</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BCB9B1"/>
                      </a:solidFill>
                      <a:prstDash val="solid"/>
                      <a:round/>
                      <a:headEnd type="none" w="med" len="med"/>
                      <a:tailEnd type="none" w="med" len="med"/>
                    </a:lnB>
                  </a:tcPr>
                </a:tc>
              </a:tr>
            </a:tbl>
          </a:graphicData>
        </a:graphic>
      </p:graphicFrame>
      <p:sp>
        <p:nvSpPr>
          <p:cNvPr id="5" name="Text 2"/>
          <p:cNvSpPr/>
          <p:nvPr/>
        </p:nvSpPr>
        <p:spPr>
          <a:xfrm>
            <a:off x="6934200" y="1879600"/>
            <a:ext cx="457835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Why: a sampling artefact</a:t>
            </a:r>
            <a:endParaRPr lang="en-US" sz="1600" dirty="0"/>
          </a:p>
        </p:txBody>
      </p:sp>
      <p:sp>
        <p:nvSpPr>
          <p:cNvPr id="6" name="Text 3"/>
          <p:cNvSpPr/>
          <p:nvPr/>
        </p:nvSpPr>
        <p:spPr>
          <a:xfrm>
            <a:off x="6934200" y="2250442"/>
            <a:ext cx="4578350"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C"/>
                </a:solidFill>
                <a:latin typeface="IBM Plex Sans" pitchFamily="34" charset="0"/>
                <a:ea typeface="IBM Plex Sans" pitchFamily="34" charset="-122"/>
                <a:cs typeface="IBM Plex Sans" pitchFamily="34" charset="-120"/>
              </a:rPr>
              <a:t>Negatives came only from files that contain a rename. In a 2-method file, one rename makes half the file “renamed”; in a 40-method file, only 1 in 40.</a:t>
            </a:r>
            <a:endParaRPr lang="en-US" sz="1400" dirty="0"/>
          </a:p>
        </p:txBody>
      </p:sp>
      <p:sp>
        <p:nvSpPr>
          <p:cNvPr id="7" name="Text 4"/>
          <p:cNvSpPr/>
          <p:nvPr/>
        </p:nvSpPr>
        <p:spPr>
          <a:xfrm>
            <a:off x="6934200" y="3150871"/>
            <a:ext cx="457835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C"/>
                </a:solidFill>
                <a:latin typeface="IBM Plex Sans" pitchFamily="34" charset="0"/>
                <a:ea typeface="IBM Plex Sans" pitchFamily="34" charset="-122"/>
                <a:cs typeface="IBM Plex Sans" pitchFamily="34" charset="-120"/>
              </a:rPr>
              <a:t>So the model learned “small file → rename”, not what a rename-prone method looks like.</a:t>
            </a:r>
            <a:endParaRPr lang="en-US" sz="1400" dirty="0"/>
          </a:p>
        </p:txBody>
      </p:sp>
      <p:sp>
        <p:nvSpPr>
          <p:cNvPr id="8"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Same 5-fold grouped CV as Experiment 1 · best of Logistic Regression, Random Forest, LightGBM</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EXPERIMENT 2 · 31,217 METHODS · 0.8% RENAMED</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Fixed design: realistic data gives about 2× random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6339840" cy="3307080"/>
        </p:xfrm>
        <a:graphic>
          <a:graphicData uri="http://schemas.openxmlformats.org/drawingml/2006/table">
            <a:tbl>
              <a:tblPr/>
              <a:tblGrid>
                <a:gridCol w="2113280"/>
                <a:gridCol w="2113280"/>
                <a:gridCol w="2113280"/>
              </a:tblGrid>
              <a:tr h="436880">
                <a:tc>
                  <a:txBody>
                    <a:bodyPr/>
                    <a:lstStyle/>
                    <a:p>
                      <a:pPr indent="0" marL="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Feature set</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Best PR-AUC</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 random</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3688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Context only</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0.020</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2.5×</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688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All 46 features</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0.018</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2.3×</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688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Relative to file</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0.017</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2.1×</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68580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Method-level, no file size</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0.015</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1.9×</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688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Code only / Name only</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0.013 / 0.012</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1.5–1.6×</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6880">
                <a:tc>
                  <a:txBody>
                    <a:bodyPr/>
                    <a:lstStyle/>
                    <a:p>
                      <a:pPr indent="0" marL="0">
                        <a:lnSpc>
                          <a:spcPts val="1960"/>
                        </a:lnSpc>
                        <a:buNone/>
                      </a:pPr>
                      <a:r>
                        <a:rPr lang="en-US" sz="1400" dirty="0">
                          <a:solidFill>
                            <a:srgbClr val="6B7280"/>
                          </a:solidFill>
                          <a:latin typeface="IBM Plex Sans" pitchFamily="34" charset="0"/>
                          <a:ea typeface="IBM Plex Sans" pitchFamily="34" charset="-122"/>
                          <a:cs typeface="IBM Plex Sans" pitchFamily="34" charset="-120"/>
                        </a:rPr>
                        <a:t>Random guess</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6B7280"/>
                          </a:solidFill>
                          <a:latin typeface="IBM Plex Sans" pitchFamily="34" charset="0"/>
                          <a:ea typeface="IBM Plex Sans" pitchFamily="34" charset="-122"/>
                          <a:cs typeface="IBM Plex Sans" pitchFamily="34" charset="-120"/>
                        </a:rPr>
                        <a:t>0.008</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6B7280"/>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7569200" y="1879600"/>
            <a:ext cx="39243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What we changed</a:t>
            </a:r>
            <a:endParaRPr lang="en-US" sz="1600" dirty="0"/>
          </a:p>
        </p:txBody>
      </p:sp>
      <p:sp>
        <p:nvSpPr>
          <p:cNvPr id="6" name="Text 3"/>
          <p:cNvSpPr/>
          <p:nvPr/>
        </p:nvSpPr>
        <p:spPr>
          <a:xfrm>
            <a:off x="7569200" y="2250442"/>
            <a:ext cx="392430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C"/>
                </a:solidFill>
                <a:latin typeface="IBM Plex Sans" pitchFamily="34" charset="0"/>
                <a:ea typeface="IBM Plex Sans" pitchFamily="34" charset="-122"/>
                <a:cs typeface="IBM Plex Sans" pitchFamily="34" charset="-120"/>
              </a:rPr>
              <a:t>Negatives now come from all 1,064 usable commits, not just files with a rename.</a:t>
            </a:r>
            <a:endParaRPr lang="en-US" sz="1400" dirty="0"/>
          </a:p>
        </p:txBody>
      </p:sp>
      <p:sp>
        <p:nvSpPr>
          <p:cNvPr id="7" name="Text 4"/>
          <p:cNvSpPr/>
          <p:nvPr/>
        </p:nvSpPr>
        <p:spPr>
          <a:xfrm>
            <a:off x="7569200" y="2893058"/>
            <a:ext cx="392430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C"/>
                </a:solidFill>
                <a:latin typeface="IBM Plex Sans" pitchFamily="34" charset="0"/>
                <a:ea typeface="IBM Plex Sans" pitchFamily="34" charset="-122"/>
                <a:cs typeface="IBM Plex Sans" pitchFamily="34" charset="-120"/>
              </a:rPr>
              <a:t>Added 12 features comparing each method with its siblings.</a:t>
            </a:r>
            <a:endParaRPr lang="en-US" sz="1400" dirty="0"/>
          </a:p>
        </p:txBody>
      </p:sp>
      <p:sp>
        <p:nvSpPr>
          <p:cNvPr id="8" name="Text 5"/>
          <p:cNvSpPr/>
          <p:nvPr/>
        </p:nvSpPr>
        <p:spPr>
          <a:xfrm>
            <a:off x="7569200" y="3535685"/>
            <a:ext cx="3924300"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C"/>
                </a:solidFill>
                <a:latin typeface="IBM Plex Sans" pitchFamily="34" charset="0"/>
                <a:ea typeface="IBM Plex Sans" pitchFamily="34" charset="-122"/>
                <a:cs typeface="IBM Plex Sans" pitchFamily="34" charset="-120"/>
              </a:rPr>
              <a:t>F1 stays below 0.04 for every model.</a:t>
            </a:r>
            <a:endParaRPr lang="en-US" sz="1400" dirty="0"/>
          </a:p>
        </p:txBody>
      </p:sp>
      <p:sp>
        <p:nvSpPr>
          <p:cNvPr id="9" name="Text 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243 renamed vs 30,974 not renamed · 5-fold CV grouped by project · best of LR, RF, LightGBM</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6B"/>
                </a:solidFill>
                <a:latin typeface="IBM Plex Sans" pitchFamily="34" charset="0"/>
                <a:ea typeface="IBM Plex Sans" pitchFamily="34" charset="-122"/>
                <a:cs typeface="IBM Plex Sans" pitchFamily="34" charset="-120"/>
              </a:rPr>
              <a:t>WHAT WE LEARNED SO FAR</a:t>
            </a:r>
            <a:endParaRPr lang="en-US" sz="1200" dirty="0"/>
          </a:p>
        </p:txBody>
      </p:sp>
      <p:sp>
        <p:nvSpPr>
          <p:cNvPr id="3" name="Text 1"/>
          <p:cNvSpPr/>
          <p:nvPr>
            <p:ph type="title"/>
          </p:nvPr>
        </p:nvSpPr>
        <p:spPr>
          <a:xfrm>
            <a:off x="812800" y="1127758"/>
            <a:ext cx="9810750"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4EE"/>
                </a:solidFill>
                <a:latin typeface="Source Serif 4" pitchFamily="18" charset="0"/>
                <a:ea typeface="Source Serif 4" pitchFamily="18" charset="-122"/>
                <a:cs typeface="Source Serif 4" pitchFamily="18" charset="-120"/>
              </a:rPr>
              <a:t>Code before a commit holds only a weak hint of an upcoming rename</a:t>
            </a:r>
            <a:endParaRPr lang="en-US" sz="3200" dirty="0"/>
          </a:p>
        </p:txBody>
      </p:sp>
      <p:sp>
        <p:nvSpPr>
          <p:cNvPr id="4" name="Shape 2"/>
          <p:cNvSpPr/>
          <p:nvPr/>
        </p:nvSpPr>
        <p:spPr>
          <a:xfrm>
            <a:off x="812800" y="2430785"/>
            <a:ext cx="3386614" cy="0"/>
          </a:xfrm>
          <a:prstGeom prst="line">
            <a:avLst/>
          </a:prstGeom>
          <a:noFill/>
          <a:ln w="25400">
            <a:solidFill>
              <a:srgbClr val="F0A36B"/>
            </a:solidFill>
            <a:prstDash val="solid"/>
          </a:ln>
        </p:spPr>
      </p:sp>
      <p:sp>
        <p:nvSpPr>
          <p:cNvPr id="5" name="Text 3"/>
          <p:cNvSpPr/>
          <p:nvPr/>
        </p:nvSpPr>
        <p:spPr>
          <a:xfrm>
            <a:off x="812800" y="2621285"/>
            <a:ext cx="348821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RQ1 · Weak yes</a:t>
            </a:r>
            <a:endParaRPr lang="en-US" sz="1600" dirty="0"/>
          </a:p>
        </p:txBody>
      </p:sp>
      <p:sp>
        <p:nvSpPr>
          <p:cNvPr id="6" name="Text 4"/>
          <p:cNvSpPr/>
          <p:nvPr/>
        </p:nvSpPr>
        <p:spPr>
          <a:xfrm>
            <a:off x="812800" y="2954027"/>
            <a:ext cx="3488212"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D1DE"/>
                </a:solidFill>
                <a:latin typeface="IBM Plex Sans" pitchFamily="34" charset="0"/>
                <a:ea typeface="IBM Plex Sans" pitchFamily="34" charset="-122"/>
                <a:cs typeface="IBM Plex Sans" pitchFamily="34" charset="-120"/>
              </a:rPr>
              <a:t>ML beats the baselines, but only about 2× random on realistic data.</a:t>
            </a:r>
            <a:endParaRPr lang="en-US" sz="1400" dirty="0"/>
          </a:p>
        </p:txBody>
      </p:sp>
      <p:sp>
        <p:nvSpPr>
          <p:cNvPr id="7" name="Shape 5"/>
          <p:cNvSpPr/>
          <p:nvPr/>
        </p:nvSpPr>
        <p:spPr>
          <a:xfrm>
            <a:off x="4402614" y="2430785"/>
            <a:ext cx="3386693" cy="0"/>
          </a:xfrm>
          <a:prstGeom prst="line">
            <a:avLst/>
          </a:prstGeom>
          <a:noFill/>
          <a:ln w="25400">
            <a:solidFill>
              <a:srgbClr val="F0A36B"/>
            </a:solidFill>
            <a:prstDash val="solid"/>
          </a:ln>
        </p:spPr>
      </p:sp>
      <p:sp>
        <p:nvSpPr>
          <p:cNvPr id="8" name="Text 6"/>
          <p:cNvSpPr/>
          <p:nvPr/>
        </p:nvSpPr>
        <p:spPr>
          <a:xfrm>
            <a:off x="4402614" y="2621285"/>
            <a:ext cx="34882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RQ2 · Context, not the name</a:t>
            </a:r>
            <a:endParaRPr lang="en-US" sz="1600" dirty="0"/>
          </a:p>
        </p:txBody>
      </p:sp>
      <p:sp>
        <p:nvSpPr>
          <p:cNvPr id="9" name="Text 7"/>
          <p:cNvSpPr/>
          <p:nvPr/>
        </p:nvSpPr>
        <p:spPr>
          <a:xfrm>
            <a:off x="4402614" y="2954027"/>
            <a:ext cx="348829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D1DE"/>
                </a:solidFill>
                <a:latin typeface="IBM Plex Sans" pitchFamily="34" charset="0"/>
                <a:ea typeface="IBM Plex Sans" pitchFamily="34" charset="-122"/>
                <a:cs typeface="IBM Plex Sans" pitchFamily="34" charset="-120"/>
              </a:rPr>
              <a:t>“Ugly name” clues alone barely help; file and class context carry most of the signal.</a:t>
            </a:r>
            <a:endParaRPr lang="en-US" sz="1400" dirty="0"/>
          </a:p>
        </p:txBody>
      </p:sp>
      <p:sp>
        <p:nvSpPr>
          <p:cNvPr id="10" name="Shape 8"/>
          <p:cNvSpPr/>
          <p:nvPr/>
        </p:nvSpPr>
        <p:spPr>
          <a:xfrm>
            <a:off x="7992507" y="2430785"/>
            <a:ext cx="3386693" cy="0"/>
          </a:xfrm>
          <a:prstGeom prst="line">
            <a:avLst/>
          </a:prstGeom>
          <a:noFill/>
          <a:ln w="25400">
            <a:solidFill>
              <a:srgbClr val="F0A36B"/>
            </a:solidFill>
            <a:prstDash val="solid"/>
          </a:ln>
        </p:spPr>
      </p:sp>
      <p:sp>
        <p:nvSpPr>
          <p:cNvPr id="11" name="Text 9"/>
          <p:cNvSpPr/>
          <p:nvPr/>
        </p:nvSpPr>
        <p:spPr>
          <a:xfrm>
            <a:off x="7992507" y="2621285"/>
            <a:ext cx="34882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Method · Check design</a:t>
            </a:r>
            <a:endParaRPr lang="en-US" sz="1600" dirty="0"/>
          </a:p>
        </p:txBody>
      </p:sp>
      <p:sp>
        <p:nvSpPr>
          <p:cNvPr id="12" name="Text 10"/>
          <p:cNvSpPr/>
          <p:nvPr/>
        </p:nvSpPr>
        <p:spPr>
          <a:xfrm>
            <a:off x="7992507" y="2954027"/>
            <a:ext cx="348829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D1DE"/>
                </a:solidFill>
                <a:latin typeface="IBM Plex Sans" pitchFamily="34" charset="0"/>
                <a:ea typeface="IBM Plex Sans" pitchFamily="34" charset="-122"/>
                <a:cs typeface="IBM Plex Sans" pitchFamily="34" charset="-120"/>
              </a:rPr>
              <a:t>How negatives are sampled can fake a strong result; ablation caught it.</a:t>
            </a:r>
            <a:endParaRPr lang="en-US" sz="1400" dirty="0"/>
          </a:p>
        </p:txBody>
      </p:sp>
      <p:sp>
        <p:nvSpPr>
          <p:cNvPr id="13"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E"/>
                </a:solidFill>
                <a:latin typeface="IBM Plex Sans" pitchFamily="34" charset="0"/>
                <a:ea typeface="IBM Plex Sans" pitchFamily="34" charset="-122"/>
                <a:cs typeface="IBM Plex Sans" pitchFamily="34" charset="-120"/>
              </a:rPr>
              <a:t>Likely reason: renames are driven by API redesigns and naming rules that one snapshot of code cannot show</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01A"/>
                </a:solidFill>
                <a:latin typeface="IBM Plex Sans" pitchFamily="34" charset="0"/>
                <a:ea typeface="IBM Plex Sans" pitchFamily="34" charset="-122"/>
                <a:cs typeface="IBM Plex Sans" pitchFamily="34" charset="-120"/>
              </a:rPr>
              <a:t>NEXT STEPS</a:t>
            </a:r>
            <a:endParaRPr lang="en-US" sz="1200" dirty="0"/>
          </a:p>
        </p:txBody>
      </p:sp>
      <p:sp>
        <p:nvSpPr>
          <p:cNvPr id="3" name="Text 1"/>
          <p:cNvSpPr/>
          <p:nvPr>
            <p:ph type="title"/>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Plan for the rest of the term</a:t>
            </a:r>
            <a:endParaRPr lang="en-US" sz="3200" dirty="0"/>
          </a:p>
        </p:txBody>
      </p:sp>
      <p:sp>
        <p:nvSpPr>
          <p:cNvPr id="4" name="Shape 2"/>
          <p:cNvSpPr/>
          <p:nvPr/>
        </p:nvSpPr>
        <p:spPr>
          <a:xfrm>
            <a:off x="815975" y="1933575"/>
            <a:ext cx="2523490" cy="1954530"/>
          </a:xfrm>
          <a:prstGeom prst="roundRect">
            <a:avLst>
              <a:gd name="adj" fmla="val 3736"/>
            </a:avLst>
          </a:prstGeom>
          <a:solidFill>
            <a:srgbClr val="FFFDF8"/>
          </a:solidFill>
          <a:ln w="6350">
            <a:solidFill>
              <a:srgbClr val="DDD7C8"/>
            </a:solidFill>
            <a:prstDash val="solid"/>
          </a:ln>
        </p:spPr>
      </p:sp>
      <p:sp>
        <p:nvSpPr>
          <p:cNvPr id="5" name="Text 3"/>
          <p:cNvSpPr/>
          <p:nvPr/>
        </p:nvSpPr>
        <p:spPr>
          <a:xfrm>
            <a:off x="1021080" y="2138685"/>
            <a:ext cx="217667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01A"/>
                </a:solidFill>
                <a:latin typeface="IBM Plex Sans" pitchFamily="34" charset="0"/>
                <a:ea typeface="IBM Plex Sans" pitchFamily="34" charset="-122"/>
                <a:cs typeface="IBM Plex Sans" pitchFamily="34" charset="-120"/>
              </a:rPr>
              <a:t>Week of Nov 2</a:t>
            </a:r>
            <a:endParaRPr lang="en-US" sz="1200" dirty="0"/>
          </a:p>
        </p:txBody>
      </p:sp>
      <p:sp>
        <p:nvSpPr>
          <p:cNvPr id="6" name="Text 4"/>
          <p:cNvSpPr/>
          <p:nvPr/>
        </p:nvSpPr>
        <p:spPr>
          <a:xfrm>
            <a:off x="1021080" y="2440942"/>
            <a:ext cx="21766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Add detection</a:t>
            </a:r>
            <a:endParaRPr lang="en-US" sz="1500" dirty="0"/>
          </a:p>
        </p:txBody>
      </p:sp>
      <p:sp>
        <p:nvSpPr>
          <p:cNvPr id="7" name="Text 5"/>
          <p:cNvSpPr/>
          <p:nvPr/>
        </p:nvSpPr>
        <p:spPr>
          <a:xfrm>
            <a:off x="1021080" y="2758442"/>
            <a:ext cx="2176679"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Use Before </a:t>
            </a:r>
            <a:r>
              <a:rPr lang="en-US" sz="1300" i="1" dirty="0">
                <a:solidFill>
                  <a:srgbClr val="3E4A5C"/>
                </a:solidFill>
                <a:latin typeface="IBM Plex Sans" pitchFamily="34" charset="0"/>
                <a:ea typeface="IBM Plex Sans" pitchFamily="34" charset="-122"/>
                <a:cs typeface="IBM Plex Sans" pitchFamily="34" charset="-120"/>
              </a:rPr>
              <a:t>and</a:t>
            </a:r>
            <a:r>
              <a:rPr lang="en-US" sz="1300" dirty="0">
                <a:solidFill>
                  <a:srgbClr val="3E4A5C"/>
                </a:solidFill>
                <a:latin typeface="IBM Plex Sans" pitchFamily="34" charset="0"/>
                <a:ea typeface="IBM Plex Sans" pitchFamily="34" charset="-122"/>
                <a:cs typeface="IBM Plex Sans" pitchFamily="34" charset="-120"/>
              </a:rPr>
              <a:t> After code (“clues from the code and the change”), as in our proposal</a:t>
            </a:r>
            <a:endParaRPr lang="en-US" sz="1300" dirty="0"/>
          </a:p>
        </p:txBody>
      </p:sp>
      <p:sp>
        <p:nvSpPr>
          <p:cNvPr id="8" name="Shape 6"/>
          <p:cNvSpPr/>
          <p:nvPr/>
        </p:nvSpPr>
        <p:spPr>
          <a:xfrm>
            <a:off x="3498215" y="1933575"/>
            <a:ext cx="2523490" cy="1954530"/>
          </a:xfrm>
          <a:prstGeom prst="roundRect">
            <a:avLst>
              <a:gd name="adj" fmla="val 3736"/>
            </a:avLst>
          </a:prstGeom>
          <a:solidFill>
            <a:srgbClr val="FFFDF8"/>
          </a:solidFill>
          <a:ln w="6350">
            <a:solidFill>
              <a:srgbClr val="DDD7C8"/>
            </a:solidFill>
            <a:prstDash val="solid"/>
          </a:ln>
        </p:spPr>
      </p:sp>
      <p:sp>
        <p:nvSpPr>
          <p:cNvPr id="9" name="Text 7"/>
          <p:cNvSpPr/>
          <p:nvPr/>
        </p:nvSpPr>
        <p:spPr>
          <a:xfrm>
            <a:off x="3703320" y="2138685"/>
            <a:ext cx="217667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IBM Plex Sans" pitchFamily="34" charset="0"/>
                <a:ea typeface="IBM Plex Sans" pitchFamily="34" charset="-122"/>
                <a:cs typeface="IBM Plex Sans" pitchFamily="34" charset="-120"/>
              </a:rPr>
              <a:t>Week of Nov 9</a:t>
            </a:r>
            <a:endParaRPr lang="en-US" sz="1200" dirty="0"/>
          </a:p>
        </p:txBody>
      </p:sp>
      <p:sp>
        <p:nvSpPr>
          <p:cNvPr id="10" name="Text 8"/>
          <p:cNvSpPr/>
          <p:nvPr/>
        </p:nvSpPr>
        <p:spPr>
          <a:xfrm>
            <a:off x="3703320" y="2440942"/>
            <a:ext cx="21766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Test on PyRef</a:t>
            </a:r>
            <a:endParaRPr lang="en-US" sz="1500" dirty="0"/>
          </a:p>
        </p:txBody>
      </p:sp>
      <p:sp>
        <p:nvSpPr>
          <p:cNvPr id="11" name="Text 9"/>
          <p:cNvSpPr/>
          <p:nvPr/>
        </p:nvSpPr>
        <p:spPr>
          <a:xfrm>
            <a:off x="3703320" y="2758442"/>
            <a:ext cx="217667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Remove commits shared with ActRef, build the same features, test once (RQ3)</a:t>
            </a:r>
            <a:endParaRPr lang="en-US" sz="1300" dirty="0"/>
          </a:p>
        </p:txBody>
      </p:sp>
      <p:sp>
        <p:nvSpPr>
          <p:cNvPr id="12" name="Shape 10"/>
          <p:cNvSpPr/>
          <p:nvPr/>
        </p:nvSpPr>
        <p:spPr>
          <a:xfrm>
            <a:off x="6180455" y="1933575"/>
            <a:ext cx="2523490" cy="1954530"/>
          </a:xfrm>
          <a:prstGeom prst="roundRect">
            <a:avLst>
              <a:gd name="adj" fmla="val 3736"/>
            </a:avLst>
          </a:prstGeom>
          <a:solidFill>
            <a:srgbClr val="FFFDF8"/>
          </a:solidFill>
          <a:ln w="6350">
            <a:solidFill>
              <a:srgbClr val="DDD7C8"/>
            </a:solidFill>
            <a:prstDash val="solid"/>
          </a:ln>
        </p:spPr>
      </p:sp>
      <p:sp>
        <p:nvSpPr>
          <p:cNvPr id="13" name="Text 11"/>
          <p:cNvSpPr/>
          <p:nvPr/>
        </p:nvSpPr>
        <p:spPr>
          <a:xfrm>
            <a:off x="6385560" y="2138685"/>
            <a:ext cx="217667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IBM Plex Sans" pitchFamily="34" charset="0"/>
                <a:ea typeface="IBM Plex Sans" pitchFamily="34" charset="-122"/>
                <a:cs typeface="IBM Plex Sans" pitchFamily="34" charset="-120"/>
              </a:rPr>
              <a:t>Weeks of Nov 16–23</a:t>
            </a:r>
            <a:endParaRPr lang="en-US" sz="1200" dirty="0"/>
          </a:p>
        </p:txBody>
      </p:sp>
      <p:sp>
        <p:nvSpPr>
          <p:cNvPr id="14" name="Text 12"/>
          <p:cNvSpPr/>
          <p:nvPr/>
        </p:nvSpPr>
        <p:spPr>
          <a:xfrm>
            <a:off x="6385560" y="2440942"/>
            <a:ext cx="21766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Explain</a:t>
            </a:r>
            <a:endParaRPr lang="en-US" sz="1500" dirty="0"/>
          </a:p>
        </p:txBody>
      </p:sp>
      <p:sp>
        <p:nvSpPr>
          <p:cNvPr id="15" name="Text 13"/>
          <p:cNvSpPr/>
          <p:nvPr/>
        </p:nvSpPr>
        <p:spPr>
          <a:xfrm>
            <a:off x="6385560" y="2758442"/>
            <a:ext cx="217667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SHAP feature importance, significance tests between models</a:t>
            </a:r>
            <a:endParaRPr lang="en-US" sz="1300" dirty="0"/>
          </a:p>
        </p:txBody>
      </p:sp>
      <p:sp>
        <p:nvSpPr>
          <p:cNvPr id="16" name="Shape 14"/>
          <p:cNvSpPr/>
          <p:nvPr/>
        </p:nvSpPr>
        <p:spPr>
          <a:xfrm>
            <a:off x="8859520" y="1930400"/>
            <a:ext cx="2519680" cy="1960880"/>
          </a:xfrm>
          <a:prstGeom prst="roundRect">
            <a:avLst>
              <a:gd name="adj" fmla="val 3886"/>
            </a:avLst>
          </a:prstGeom>
          <a:solidFill>
            <a:srgbClr val="14213D"/>
          </a:solidFill>
          <a:ln/>
        </p:spPr>
      </p:sp>
      <p:sp>
        <p:nvSpPr>
          <p:cNvPr id="17" name="Text 15"/>
          <p:cNvSpPr/>
          <p:nvPr/>
        </p:nvSpPr>
        <p:spPr>
          <a:xfrm>
            <a:off x="9062720" y="2133600"/>
            <a:ext cx="217667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36B"/>
                </a:solidFill>
                <a:latin typeface="IBM Plex Sans" pitchFamily="34" charset="0"/>
                <a:ea typeface="IBM Plex Sans" pitchFamily="34" charset="-122"/>
                <a:cs typeface="IBM Plex Sans" pitchFamily="34" charset="-120"/>
              </a:rPr>
              <a:t>From Nov 30</a:t>
            </a:r>
            <a:endParaRPr lang="en-US" sz="1200" dirty="0"/>
          </a:p>
        </p:txBody>
      </p:sp>
      <p:sp>
        <p:nvSpPr>
          <p:cNvPr id="18" name="Text 16"/>
          <p:cNvSpPr/>
          <p:nvPr/>
        </p:nvSpPr>
        <p:spPr>
          <a:xfrm>
            <a:off x="9062720" y="2435858"/>
            <a:ext cx="21766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4EE"/>
                </a:solidFill>
                <a:latin typeface="IBM Plex Sans" pitchFamily="34" charset="0"/>
                <a:ea typeface="IBM Plex Sans" pitchFamily="34" charset="-122"/>
                <a:cs typeface="IBM Plex Sans" pitchFamily="34" charset="-120"/>
              </a:rPr>
              <a:t>Write up</a:t>
            </a:r>
            <a:endParaRPr lang="en-US" sz="1500" dirty="0"/>
          </a:p>
        </p:txBody>
      </p:sp>
      <p:sp>
        <p:nvSpPr>
          <p:cNvPr id="19" name="Text 17"/>
          <p:cNvSpPr/>
          <p:nvPr/>
        </p:nvSpPr>
        <p:spPr>
          <a:xfrm>
            <a:off x="9062720" y="2753358"/>
            <a:ext cx="217667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1DE"/>
                </a:solidFill>
                <a:latin typeface="IBM Plex Sans" pitchFamily="34" charset="0"/>
                <a:ea typeface="IBM Plex Sans" pitchFamily="34" charset="-122"/>
                <a:cs typeface="IBM Plex Sans" pitchFamily="34" charset="-120"/>
              </a:rPr>
              <a:t>Final report, slides, GitHub repo that reproduces every number</a:t>
            </a:r>
            <a:endParaRPr lang="en-US" sz="1300" dirty="0"/>
          </a:p>
        </p:txBody>
      </p:sp>
      <p:sp>
        <p:nvSpPr>
          <p:cNvPr id="20" name="Text 18"/>
          <p:cNvSpPr/>
          <p:nvPr/>
        </p:nvSpPr>
        <p:spPr>
          <a:xfrm>
            <a:off x="812800" y="4246885"/>
            <a:ext cx="11379200"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C"/>
                </a:solidFill>
                <a:latin typeface="IBM Plex Sans" pitchFamily="34" charset="0"/>
                <a:ea typeface="IBM Plex Sans" pitchFamily="34" charset="-122"/>
                <a:cs typeface="IBM Plex Sans" pitchFamily="34" charset="-120"/>
              </a:rPr>
              <a:t>Prediction results stay in the report as a finding: predicting a rename before it happens is much harder than detecting one.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F0A36B"/>
                </a:solidFill>
                <a:latin typeface="IBM Plex Sans" pitchFamily="34" charset="0"/>
                <a:ea typeface="IBM Plex Sans" pitchFamily="34" charset="-122"/>
                <a:cs typeface="IBM Plex Sans" pitchFamily="34" charset="-120"/>
              </a:rPr>
              <a:t>GROUP 4</a:t>
            </a:r>
            <a:endParaRPr lang="en-US" sz="1500" dirty="0"/>
          </a:p>
        </p:txBody>
      </p:sp>
      <p:sp>
        <p:nvSpPr>
          <p:cNvPr id="3" name="Text 1"/>
          <p:cNvSpPr/>
          <p:nvPr>
            <p:ph type="title"/>
          </p:nvPr>
        </p:nvSpPr>
        <p:spPr>
          <a:xfrm>
            <a:off x="812800" y="274955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4EE"/>
                </a:solidFill>
                <a:latin typeface="Source Serif 4" pitchFamily="18" charset="0"/>
                <a:ea typeface="Source Serif 4" pitchFamily="18" charset="-122"/>
                <a:cs typeface="Source Serif 4" pitchFamily="18" charset="-120"/>
              </a:rPr>
              <a:t>Thank you</a:t>
            </a:r>
            <a:endParaRPr lang="en-US" sz="6000" dirty="0"/>
          </a:p>
        </p:txBody>
      </p:sp>
      <p:sp>
        <p:nvSpPr>
          <p:cNvPr id="4" name="Text 2"/>
          <p:cNvSpPr/>
          <p:nvPr/>
        </p:nvSpPr>
        <p:spPr>
          <a:xfrm>
            <a:off x="812800" y="37528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1DE"/>
                </a:solidFill>
                <a:latin typeface="IBM Plex Sans" pitchFamily="34" charset="0"/>
                <a:ea typeface="IBM Plex Sans" pitchFamily="34" charset="-122"/>
                <a:cs typeface="IBM Plex Sans" pitchFamily="34" charset="-120"/>
              </a:rPr>
              <a:t>Questions and feedback welcome</a:t>
            </a:r>
            <a:endParaRPr lang="en-US" sz="2000" dirty="0"/>
          </a:p>
        </p:txBody>
      </p:sp>
      <p:sp>
        <p:nvSpPr>
          <p:cNvPr id="5" name="Text 3"/>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Raj Panchal · Johnson Amoah · Thompson Rivers University</a:t>
            </a:r>
            <a:endParaRPr lang="en-US" sz="1500" dirty="0"/>
          </a:p>
        </p:txBody>
      </p:sp>
    </p:spTree>
  </p:cSld>
  <p:clrMapOvr>
    <a:masterClrMapping/>
  </p:clrMapOvr>
</p:sld>
</file>

<file path=ppt/theme/theme1.xml><?xml version="1.0" encoding="utf-8"?>
<a:theme xmlns:a="http://schemas.openxmlformats.org/drawingml/2006/main" name="Progress Report: Predicting Method Renames in Python">
  <a:themeElements>
    <a:clrScheme name="Progress Report: Predicting Method Renames in Python">
      <a:dk1>
        <a:srgbClr val="14213D"/>
      </a:dk1>
      <a:lt1>
        <a:srgbClr val="F6F4EE"/>
      </a:lt1>
      <a:dk2>
        <a:srgbClr val="4D5669"/>
      </a:dk2>
      <a:lt2>
        <a:srgbClr val="DFDFDC"/>
      </a:lt2>
      <a:accent1>
        <a:srgbClr val="B5501A"/>
      </a:accent1>
      <a:accent2>
        <a:srgbClr val="F0A36B"/>
      </a:accent2>
      <a:accent3>
        <a:srgbClr val="2F5D8A"/>
      </a:accent3>
      <a:accent4>
        <a:srgbClr val="3E4A5C"/>
      </a:accent4>
      <a:accent5>
        <a:srgbClr val="C9D1DE"/>
      </a:accent5>
      <a:accent6>
        <a:srgbClr val="6B7280"/>
      </a:accent6>
      <a:hlink>
        <a:srgbClr val="0563C1"/>
      </a:hlink>
      <a:folHlink>
        <a:srgbClr val="954F72"/>
      </a:folHlink>
    </a:clrScheme>
    <a:fontScheme name="Progress Report: Predicting Method Renames in Pyth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 Predicting Method Renames in Python</dc:title>
  <dc:subject/>
  <dc:creator/>
  <cp:lastModifiedBy/>
  <cp:revision>1</cp:revision>
  <dcterms:created xsi:type="dcterms:W3CDTF">2026-10-30T17:48:26Z</dcterms:created>
  <dcterms:modified xsi:type="dcterms:W3CDTF">2026-10-30T17:48:26Z</dcterms:modified>
</cp:coreProperties>
</file>